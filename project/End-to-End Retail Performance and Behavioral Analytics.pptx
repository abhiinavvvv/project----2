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72" autoAdjust="0"/>
    <p:restoredTop sz="94660"/>
  </p:normalViewPr>
  <p:slideViewPr>
    <p:cSldViewPr snapToGrid="0">
      <p:cViewPr varScale="1">
        <p:scale>
          <a:sx n="74" d="100"/>
          <a:sy n="74" d="100"/>
        </p:scale>
        <p:origin x="1042"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9170C1E-B9CC-483F-B234-5FC1BF015335}" type="datetimeFigureOut">
              <a:rPr lang="en-IN" smtClean="0"/>
              <a:t>30-10-2025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13780F6-BBE7-406D-A635-D0D55D18E55A}" type="slidenum">
              <a:rPr lang="en-IN" smtClean="0"/>
              <a:t>‹#›</a:t>
            </a:fld>
            <a:endParaRPr lang="en-IN"/>
          </a:p>
        </p:txBody>
      </p:sp>
    </p:spTree>
    <p:extLst>
      <p:ext uri="{BB962C8B-B14F-4D97-AF65-F5344CB8AC3E}">
        <p14:creationId xmlns:p14="http://schemas.microsoft.com/office/powerpoint/2010/main" val="25682495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E13780F6-BBE7-406D-A635-D0D55D18E55A}" type="slidenum">
              <a:rPr lang="en-IN" smtClean="0"/>
              <a:t>1</a:t>
            </a:fld>
            <a:endParaRPr lang="en-IN"/>
          </a:p>
        </p:txBody>
      </p:sp>
    </p:spTree>
    <p:extLst>
      <p:ext uri="{BB962C8B-B14F-4D97-AF65-F5344CB8AC3E}">
        <p14:creationId xmlns:p14="http://schemas.microsoft.com/office/powerpoint/2010/main" val="27762249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E13780F6-BBE7-406D-A635-D0D55D18E55A}" type="slidenum">
              <a:rPr lang="en-IN" smtClean="0"/>
              <a:t>5</a:t>
            </a:fld>
            <a:endParaRPr lang="en-IN"/>
          </a:p>
        </p:txBody>
      </p:sp>
    </p:spTree>
    <p:extLst>
      <p:ext uri="{BB962C8B-B14F-4D97-AF65-F5344CB8AC3E}">
        <p14:creationId xmlns:p14="http://schemas.microsoft.com/office/powerpoint/2010/main" val="29287273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E13780F6-BBE7-406D-A635-D0D55D18E55A}" type="slidenum">
              <a:rPr lang="en-IN" smtClean="0"/>
              <a:t>8</a:t>
            </a:fld>
            <a:endParaRPr lang="en-IN"/>
          </a:p>
        </p:txBody>
      </p:sp>
    </p:spTree>
    <p:extLst>
      <p:ext uri="{BB962C8B-B14F-4D97-AF65-F5344CB8AC3E}">
        <p14:creationId xmlns:p14="http://schemas.microsoft.com/office/powerpoint/2010/main" val="15780986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1" name="Freeform 6"/>
          <p:cNvSpPr/>
          <p:nvPr/>
        </p:nvSpPr>
        <p:spPr bwMode="auto">
          <a:xfrm>
            <a:off x="0" y="-3175"/>
            <a:ext cx="12192000" cy="5203825"/>
          </a:xfrm>
          <a:custGeom>
            <a:avLst/>
            <a:gdLst/>
            <a:ahLst/>
            <a:cxnLst/>
            <a:rect l="0" t="0" r="r" b="b"/>
            <a:pathLst>
              <a:path w="5760" h="3278">
                <a:moveTo>
                  <a:pt x="5760" y="0"/>
                </a:moveTo>
                <a:lnTo>
                  <a:pt x="0" y="0"/>
                </a:lnTo>
                <a:lnTo>
                  <a:pt x="0" y="3090"/>
                </a:lnTo>
                <a:lnTo>
                  <a:pt x="943" y="3090"/>
                </a:lnTo>
                <a:lnTo>
                  <a:pt x="1123" y="3270"/>
                </a:lnTo>
                <a:lnTo>
                  <a:pt x="1123" y="3270"/>
                </a:lnTo>
                <a:lnTo>
                  <a:pt x="1127" y="3272"/>
                </a:lnTo>
                <a:lnTo>
                  <a:pt x="1133" y="3275"/>
                </a:lnTo>
                <a:lnTo>
                  <a:pt x="1139" y="3278"/>
                </a:lnTo>
                <a:lnTo>
                  <a:pt x="1144" y="3278"/>
                </a:lnTo>
                <a:lnTo>
                  <a:pt x="1150" y="3278"/>
                </a:lnTo>
                <a:lnTo>
                  <a:pt x="1155" y="3275"/>
                </a:lnTo>
                <a:lnTo>
                  <a:pt x="1161" y="3272"/>
                </a:lnTo>
                <a:lnTo>
                  <a:pt x="1165" y="3270"/>
                </a:lnTo>
                <a:lnTo>
                  <a:pt x="1345" y="3090"/>
                </a:lnTo>
                <a:lnTo>
                  <a:pt x="5760" y="3090"/>
                </a:lnTo>
                <a:lnTo>
                  <a:pt x="5760" y="0"/>
                </a:lnTo>
                <a:close/>
              </a:path>
            </a:pathLst>
          </a:custGeom>
          <a:ln/>
          <a:effectLst/>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810001" y="1449147"/>
            <a:ext cx="10572000" cy="2971051"/>
          </a:xfrm>
        </p:spPr>
        <p:txBody>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810001" y="5280847"/>
            <a:ext cx="10572000" cy="434974"/>
          </a:xfrm>
        </p:spPr>
        <p:txBody>
          <a:bodyPr anchor="t"/>
          <a:lstStyle>
            <a:lvl1pPr marL="0" indent="0" algn="l">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8B9EBBA-996F-894A-B54A-D6246ED52CEA}" type="datetimeFigureOut">
              <a:rPr lang="en-US" dirty="0"/>
              <a:pPr/>
              <a:t>10/30/2025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1"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10000" y="447188"/>
            <a:ext cx="10571998" cy="970450"/>
          </a:xfrm>
        </p:spPr>
        <p:txBody>
          <a:bodyPr/>
          <a:lstStyle/>
          <a:p>
            <a:r>
              <a:rPr lang="en-US"/>
              <a:t>Click to edit Master title style</a:t>
            </a:r>
            <a:endParaRPr lang="en-US" dirty="0"/>
          </a:p>
        </p:txBody>
      </p:sp>
      <p:sp>
        <p:nvSpPr>
          <p:cNvPr id="3" name="Content Placeholder 2"/>
          <p:cNvSpPr>
            <a:spLocks noGrp="1"/>
          </p:cNvSpPr>
          <p:nvPr>
            <p:ph idx="1"/>
          </p:nvPr>
        </p:nvSpPr>
        <p:spPr>
          <a:xfrm>
            <a:off x="818712" y="2222287"/>
            <a:ext cx="10554574" cy="363651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B3A1323-8D79-1946-B0D7-40001CF92E9D}" type="datetimeFigureOut">
              <a:rPr lang="en-US" dirty="0"/>
              <a:pPr/>
              <a:t>10/30/2025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0" name="Freeform 7"/>
          <p:cNvSpPr/>
          <p:nvPr/>
        </p:nvSpPr>
        <p:spPr bwMode="auto">
          <a:xfrm>
            <a:off x="0" y="1"/>
            <a:ext cx="12192000" cy="5203825"/>
          </a:xfrm>
          <a:custGeom>
            <a:avLst/>
            <a:gdLst/>
            <a:ahLst/>
            <a:cxnLst/>
            <a:rect l="0" t="0" r="r" b="b"/>
            <a:pathLst>
              <a:path w="5760" h="3278">
                <a:moveTo>
                  <a:pt x="0" y="0"/>
                </a:moveTo>
                <a:lnTo>
                  <a:pt x="5760" y="0"/>
                </a:lnTo>
                <a:lnTo>
                  <a:pt x="5760" y="3090"/>
                </a:lnTo>
                <a:lnTo>
                  <a:pt x="4817" y="3090"/>
                </a:lnTo>
                <a:lnTo>
                  <a:pt x="4637" y="3270"/>
                </a:lnTo>
                <a:lnTo>
                  <a:pt x="4637" y="3270"/>
                </a:lnTo>
                <a:lnTo>
                  <a:pt x="4633" y="3272"/>
                </a:lnTo>
                <a:lnTo>
                  <a:pt x="4627" y="3275"/>
                </a:lnTo>
                <a:lnTo>
                  <a:pt x="4621" y="3278"/>
                </a:lnTo>
                <a:lnTo>
                  <a:pt x="4616" y="3278"/>
                </a:lnTo>
                <a:lnTo>
                  <a:pt x="4610" y="3278"/>
                </a:lnTo>
                <a:lnTo>
                  <a:pt x="4605" y="3275"/>
                </a:lnTo>
                <a:lnTo>
                  <a:pt x="4599" y="3272"/>
                </a:lnTo>
                <a:lnTo>
                  <a:pt x="4595" y="3270"/>
                </a:lnTo>
                <a:lnTo>
                  <a:pt x="4415" y="3090"/>
                </a:lnTo>
                <a:lnTo>
                  <a:pt x="0" y="3090"/>
                </a:lnTo>
                <a:lnTo>
                  <a:pt x="0" y="0"/>
                </a:lnTo>
                <a:lnTo>
                  <a:pt x="0" y="0"/>
                </a:lnTo>
                <a:close/>
              </a:path>
            </a:pathLst>
          </a:custGeom>
          <a:ln>
            <a:headEnd/>
            <a:tailEnd/>
          </a:ln>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10000" y="2951396"/>
            <a:ext cx="10561418" cy="1468800"/>
          </a:xfrm>
        </p:spPr>
        <p:txBody>
          <a:bodyPr anchor="b"/>
          <a:lstStyle>
            <a:lvl1pPr algn="r">
              <a:defRPr sz="4800" b="1" cap="none"/>
            </a:lvl1pPr>
          </a:lstStyle>
          <a:p>
            <a:r>
              <a:rPr lang="en-US"/>
              <a:t>Click to edit Master title style</a:t>
            </a:r>
            <a:endParaRPr lang="en-US" dirty="0"/>
          </a:p>
        </p:txBody>
      </p:sp>
      <p:sp>
        <p:nvSpPr>
          <p:cNvPr id="3" name="Text Placeholder 2"/>
          <p:cNvSpPr>
            <a:spLocks noGrp="1"/>
          </p:cNvSpPr>
          <p:nvPr>
            <p:ph type="body" idx="1"/>
          </p:nvPr>
        </p:nvSpPr>
        <p:spPr>
          <a:xfrm>
            <a:off x="810000" y="5281201"/>
            <a:ext cx="10561418" cy="433955"/>
          </a:xfrm>
        </p:spPr>
        <p:txBody>
          <a:bodyPr anchor="t">
            <a:no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DFA1846-DA80-1C48-A609-854EA85C59AD}" type="datetimeFigureOut">
              <a:rPr lang="en-US" dirty="0"/>
              <a:pPr/>
              <a:t>10/30/2025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18712" y="2222287"/>
            <a:ext cx="5185873" cy="363876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7415" y="2222287"/>
            <a:ext cx="5194583" cy="363876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7302355-E14B-8545-A8F8-0FE83CC9D524}" type="datetimeFigureOut">
              <a:rPr lang="en-US" dirty="0"/>
              <a:pPr/>
              <a:t>10/30/2025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814728" y="2174875"/>
            <a:ext cx="5189857" cy="576262"/>
          </a:xfrm>
        </p:spPr>
        <p:txBody>
          <a:bodyPr anchor="b">
            <a:noAutofit/>
          </a:bodyPr>
          <a:lstStyle>
            <a:lvl1pPr marL="0" indent="0" algn="ctr">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14729" y="2751138"/>
            <a:ext cx="5189856" cy="3109913"/>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7415" y="2174875"/>
            <a:ext cx="5194583" cy="576262"/>
          </a:xfrm>
        </p:spPr>
        <p:txBody>
          <a:bodyPr anchor="b">
            <a:noAutofit/>
          </a:bodyPr>
          <a:lstStyle>
            <a:lvl1pPr marL="0" indent="0" algn="ctr">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7415" y="2751138"/>
            <a:ext cx="5194583" cy="3109913"/>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2640F58-564D-2B4F-AE67-E407BA4FCF45}" type="datetimeFigureOut">
              <a:rPr lang="en-US" dirty="0"/>
              <a:pPr/>
              <a:t>10/30/2025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13A34C8-038E-2045-AF43-DF7DBB8E0E9E}" type="datetimeFigureOut">
              <a:rPr lang="en-US" dirty="0"/>
              <a:pPr/>
              <a:t>10/30/2025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818C68F-D26B-8F47-958C-23B49CF8A634}" type="datetimeFigureOut">
              <a:rPr lang="en-US" dirty="0"/>
              <a:pPr/>
              <a:t>10/30/2025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2" name="Freeform 6"/>
          <p:cNvSpPr>
            <a:spLocks noChangeAspect="1"/>
          </p:cNvSpPr>
          <p:nvPr/>
        </p:nvSpPr>
        <p:spPr bwMode="auto">
          <a:xfrm>
            <a:off x="1073151" y="446087"/>
            <a:ext cx="3547533" cy="1814651"/>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1073151" y="446088"/>
            <a:ext cx="3547533" cy="1618396"/>
          </a:xfrm>
        </p:spPr>
        <p:txBody>
          <a:bodyPr anchor="b"/>
          <a:lstStyle>
            <a:lvl1pPr algn="l">
              <a:defRPr sz="2000" b="1"/>
            </a:lvl1pPr>
          </a:lstStyle>
          <a:p>
            <a:r>
              <a:rPr lang="en-US"/>
              <a:t>Click to edit Master title style</a:t>
            </a:r>
            <a:endParaRPr lang="en-US" dirty="0"/>
          </a:p>
        </p:txBody>
      </p:sp>
      <p:sp>
        <p:nvSpPr>
          <p:cNvPr id="3" name="Content Placeholder 2"/>
          <p:cNvSpPr>
            <a:spLocks noGrp="1"/>
          </p:cNvSpPr>
          <p:nvPr>
            <p:ph idx="1"/>
          </p:nvPr>
        </p:nvSpPr>
        <p:spPr>
          <a:xfrm>
            <a:off x="4855633" y="446088"/>
            <a:ext cx="6252633" cy="541496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73151" y="2260738"/>
            <a:ext cx="3547533" cy="3600311"/>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0DF5E60-9974-AC48-9591-99C2BB44B7CF}" type="datetimeFigureOut">
              <a:rPr lang="en-US" dirty="0"/>
              <a:pPr/>
              <a:t>10/30/2025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4728" y="727522"/>
            <a:ext cx="4852988" cy="1617163"/>
          </a:xfrm>
        </p:spPr>
        <p:txBody>
          <a:bodyPr anchor="b">
            <a:normAutofit/>
          </a:bodyPr>
          <a:lstStyle>
            <a:lvl1pPr algn="l">
              <a:defRPr sz="2400" b="0"/>
            </a:lvl1pPr>
          </a:lstStyle>
          <a:p>
            <a:r>
              <a:rPr lang="en-US"/>
              <a:t>Click to edit Master title style</a:t>
            </a:r>
            <a:endParaRPr lang="en-US" dirty="0"/>
          </a:p>
        </p:txBody>
      </p:sp>
      <p:sp>
        <p:nvSpPr>
          <p:cNvPr id="9" name="Picture Placeholder 11"/>
          <p:cNvSpPr>
            <a:spLocks noGrp="1" noChangeAspect="1"/>
          </p:cNvSpPr>
          <p:nvPr>
            <p:ph type="pic" sz="quarter" idx="13"/>
          </p:nvPr>
        </p:nvSpPr>
        <p:spPr bwMode="auto">
          <a:xfrm>
            <a:off x="6098117" y="0"/>
            <a:ext cx="6093883" cy="6858000"/>
          </a:xfrm>
          <a:custGeom>
            <a:avLst/>
            <a:gdLst/>
            <a:ahLst/>
            <a:cxnLst/>
            <a:rect l="0" t="0" r="r" b="b"/>
            <a:pathLst>
              <a:path w="2879" h="4320">
                <a:moveTo>
                  <a:pt x="183" y="0"/>
                </a:moveTo>
                <a:lnTo>
                  <a:pt x="183" y="1197"/>
                </a:lnTo>
                <a:lnTo>
                  <a:pt x="8" y="1372"/>
                </a:lnTo>
                <a:lnTo>
                  <a:pt x="8" y="1372"/>
                </a:lnTo>
                <a:lnTo>
                  <a:pt x="6" y="1376"/>
                </a:lnTo>
                <a:lnTo>
                  <a:pt x="3" y="1382"/>
                </a:lnTo>
                <a:lnTo>
                  <a:pt x="0" y="1387"/>
                </a:lnTo>
                <a:lnTo>
                  <a:pt x="0" y="1393"/>
                </a:lnTo>
                <a:lnTo>
                  <a:pt x="0" y="1399"/>
                </a:lnTo>
                <a:lnTo>
                  <a:pt x="3" y="1404"/>
                </a:lnTo>
                <a:lnTo>
                  <a:pt x="6" y="1410"/>
                </a:lnTo>
                <a:lnTo>
                  <a:pt x="8" y="1414"/>
                </a:lnTo>
                <a:lnTo>
                  <a:pt x="183" y="1589"/>
                </a:lnTo>
                <a:lnTo>
                  <a:pt x="183" y="4320"/>
                </a:lnTo>
                <a:lnTo>
                  <a:pt x="2879" y="4320"/>
                </a:lnTo>
                <a:lnTo>
                  <a:pt x="2879" y="0"/>
                </a:lnTo>
                <a:lnTo>
                  <a:pt x="183" y="0"/>
                </a:lnTo>
                <a:close/>
              </a:path>
            </a:pathLst>
          </a:custGeom>
          <a:noFill/>
          <a:ln w="9525">
            <a:solidFill>
              <a:schemeClr val="tx2"/>
            </a:solidFill>
            <a:round/>
            <a:headEnd/>
            <a:tailEnd/>
          </a:ln>
          <a:effectLst/>
        </p:spPr>
        <p:txBody>
          <a:bodyPr wrap="square" numCol="1" anchor="t" anchorCtr="0" compatLnSpc="1">
            <a:prstTxWarp prst="textNoShape">
              <a:avLst/>
            </a:prstTxWarp>
            <a:normAutofit/>
          </a:bodyPr>
          <a:lstStyle>
            <a:lvl1pPr algn="ctr">
              <a:buFontTx/>
              <a:buNone/>
              <a:defRPr sz="1400"/>
            </a:lvl1pPr>
          </a:lstStyle>
          <a:p>
            <a:r>
              <a:rPr lang="en-US"/>
              <a:t>Click icon to add picture</a:t>
            </a:r>
            <a:endParaRPr lang="en-US" dirty="0"/>
          </a:p>
        </p:txBody>
      </p:sp>
      <p:sp>
        <p:nvSpPr>
          <p:cNvPr id="4" name="Text Placeholder 3"/>
          <p:cNvSpPr>
            <a:spLocks noGrp="1"/>
          </p:cNvSpPr>
          <p:nvPr>
            <p:ph type="body" sz="half" idx="2"/>
          </p:nvPr>
        </p:nvSpPr>
        <p:spPr>
          <a:xfrm>
            <a:off x="814728" y="2344684"/>
            <a:ext cx="4852988" cy="3516365"/>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3885810" y="6041362"/>
            <a:ext cx="976879" cy="365125"/>
          </a:xfrm>
        </p:spPr>
        <p:txBody>
          <a:bodyPr/>
          <a:lstStyle/>
          <a:p>
            <a:fld id="{18C79C5D-2A6F-F04D-97DA-BEF2467B64E4}" type="datetimeFigureOut">
              <a:rPr lang="en-US" dirty="0"/>
              <a:pPr/>
              <a:t>10/30/2025</a:t>
            </a:fld>
            <a:endParaRPr lang="en-US" dirty="0"/>
          </a:p>
        </p:txBody>
      </p:sp>
      <p:sp>
        <p:nvSpPr>
          <p:cNvPr id="6" name="Footer Placeholder 5"/>
          <p:cNvSpPr>
            <a:spLocks noGrp="1"/>
          </p:cNvSpPr>
          <p:nvPr>
            <p:ph type="ftr" sz="quarter" idx="11"/>
          </p:nvPr>
        </p:nvSpPr>
        <p:spPr>
          <a:xfrm>
            <a:off x="590396" y="6041362"/>
            <a:ext cx="3295413" cy="365125"/>
          </a:xfrm>
        </p:spPr>
        <p:txBody>
          <a:bodyPr/>
          <a:lstStyle/>
          <a:p>
            <a:endParaRPr lang="en-US" dirty="0"/>
          </a:p>
        </p:txBody>
      </p:sp>
      <p:sp>
        <p:nvSpPr>
          <p:cNvPr id="7" name="Slide Number Placeholder 6"/>
          <p:cNvSpPr>
            <a:spLocks noGrp="1"/>
          </p:cNvSpPr>
          <p:nvPr>
            <p:ph type="sldNum" sz="quarter" idx="12"/>
          </p:nvPr>
        </p:nvSpPr>
        <p:spPr>
          <a:xfrm>
            <a:off x="4862689" y="5915888"/>
            <a:ext cx="1062155" cy="490599"/>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0000" y="4800600"/>
            <a:ext cx="10561418" cy="566738"/>
          </a:xfrm>
        </p:spPr>
        <p:txBody>
          <a:bodyPr anchor="b">
            <a:normAutofit/>
          </a:bodyPr>
          <a:lstStyle>
            <a:lvl1pPr algn="l">
              <a:defRPr sz="2400" b="0"/>
            </a:lvl1pPr>
          </a:lstStyle>
          <a:p>
            <a:r>
              <a:rPr lang="en-US"/>
              <a:t>Click to edit Master title style</a:t>
            </a:r>
            <a:endParaRPr lang="en-US" dirty="0"/>
          </a:p>
        </p:txBody>
      </p:sp>
      <p:sp>
        <p:nvSpPr>
          <p:cNvPr id="15" name="Picture Placeholder 14"/>
          <p:cNvSpPr>
            <a:spLocks noGrp="1" noChangeAspect="1"/>
          </p:cNvSpPr>
          <p:nvPr>
            <p:ph type="pic" sz="quarter" idx="13"/>
          </p:nvPr>
        </p:nvSpPr>
        <p:spPr bwMode="auto">
          <a:xfrm>
            <a:off x="0" y="0"/>
            <a:ext cx="12192000" cy="4800600"/>
          </a:xfrm>
          <a:custGeom>
            <a:avLst/>
            <a:gdLst/>
            <a:ahLst/>
            <a:cxnLst/>
            <a:rect l="0" t="0" r="r" b="b"/>
            <a:pathLst>
              <a:path w="5760" h="3289">
                <a:moveTo>
                  <a:pt x="5760" y="0"/>
                </a:moveTo>
                <a:lnTo>
                  <a:pt x="0" y="0"/>
                </a:lnTo>
                <a:lnTo>
                  <a:pt x="0" y="3100"/>
                </a:lnTo>
                <a:lnTo>
                  <a:pt x="943" y="3100"/>
                </a:lnTo>
                <a:lnTo>
                  <a:pt x="1123" y="3281"/>
                </a:lnTo>
                <a:lnTo>
                  <a:pt x="1123" y="3281"/>
                </a:lnTo>
                <a:lnTo>
                  <a:pt x="1127" y="3283"/>
                </a:lnTo>
                <a:lnTo>
                  <a:pt x="1133" y="3286"/>
                </a:lnTo>
                <a:lnTo>
                  <a:pt x="1139" y="3289"/>
                </a:lnTo>
                <a:lnTo>
                  <a:pt x="1144" y="3289"/>
                </a:lnTo>
                <a:lnTo>
                  <a:pt x="1150" y="3289"/>
                </a:lnTo>
                <a:lnTo>
                  <a:pt x="1155" y="3286"/>
                </a:lnTo>
                <a:lnTo>
                  <a:pt x="1161" y="3283"/>
                </a:lnTo>
                <a:lnTo>
                  <a:pt x="1165" y="3281"/>
                </a:lnTo>
                <a:lnTo>
                  <a:pt x="1345" y="3100"/>
                </a:lnTo>
                <a:lnTo>
                  <a:pt x="5760" y="3100"/>
                </a:lnTo>
                <a:lnTo>
                  <a:pt x="5760" y="0"/>
                </a:lnTo>
                <a:close/>
              </a:path>
            </a:pathLst>
          </a:custGeom>
          <a:noFill/>
          <a:ln>
            <a:solidFill>
              <a:schemeClr val="tx2"/>
            </a:solidFill>
          </a:ln>
        </p:spPr>
        <p:style>
          <a:lnRef idx="1">
            <a:schemeClr val="accent1"/>
          </a:lnRef>
          <a:fillRef idx="3">
            <a:schemeClr val="accent1"/>
          </a:fillRef>
          <a:effectRef idx="2">
            <a:schemeClr val="accent1"/>
          </a:effectRef>
          <a:fontRef idx="minor">
            <a:schemeClr val="lt1"/>
          </a:fontRef>
        </p:style>
        <p:txBody>
          <a:bodyPr wrap="square" numCol="1" anchor="t" anchorCtr="0" compatLnSpc="1">
            <a:prstTxWarp prst="textNoShape">
              <a:avLst/>
            </a:prstTxWarp>
            <a:normAutofit/>
          </a:bodyPr>
          <a:lstStyle>
            <a:lvl1pPr marL="0" indent="0" algn="ctr">
              <a:buFontTx/>
              <a:buNone/>
              <a:defRPr sz="1600"/>
            </a:lvl1pPr>
          </a:lstStyle>
          <a:p>
            <a:r>
              <a:rPr lang="en-US"/>
              <a:t>Click icon to add picture</a:t>
            </a:r>
            <a:endParaRPr lang="en-US" dirty="0"/>
          </a:p>
        </p:txBody>
      </p:sp>
      <p:sp>
        <p:nvSpPr>
          <p:cNvPr id="4" name="Text Placeholder 3"/>
          <p:cNvSpPr>
            <a:spLocks noGrp="1"/>
          </p:cNvSpPr>
          <p:nvPr>
            <p:ph type="body" sz="half" idx="2"/>
          </p:nvPr>
        </p:nvSpPr>
        <p:spPr>
          <a:xfrm>
            <a:off x="810000" y="5367338"/>
            <a:ext cx="10561418"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8C79C5D-2A6F-F04D-97DA-BEF2467B64E4}" type="datetimeFigureOut">
              <a:rPr lang="en-US" dirty="0"/>
              <a:pPr/>
              <a:t>10/30/2025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8" name="Freeform 6"/>
          <p:cNvSpPr>
            <a:spLocks noChangeAspect="1"/>
          </p:cNvSpPr>
          <p:nvPr/>
        </p:nvSpPr>
        <p:spPr bwMode="auto">
          <a:xfrm>
            <a:off x="631697" y="1081456"/>
            <a:ext cx="6332416" cy="3239188"/>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solidFill>
              <a:schemeClr val="accent1"/>
            </a:solidFill>
          </a:ln>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50985" y="1238502"/>
            <a:ext cx="5893840" cy="2645912"/>
          </a:xfrm>
        </p:spPr>
        <p:txBody>
          <a:bodyPr anchor="b"/>
          <a:lstStyle>
            <a:lvl1pPr algn="l">
              <a:defRPr sz="4200" b="1" cap="none"/>
            </a:lvl1pPr>
          </a:lstStyle>
          <a:p>
            <a:r>
              <a:rPr lang="en-US"/>
              <a:t>Click to edit Master title style</a:t>
            </a:r>
            <a:endParaRPr lang="en-US" dirty="0"/>
          </a:p>
        </p:txBody>
      </p:sp>
      <p:sp>
        <p:nvSpPr>
          <p:cNvPr id="3" name="Text Placeholder 2"/>
          <p:cNvSpPr>
            <a:spLocks noGrp="1"/>
          </p:cNvSpPr>
          <p:nvPr>
            <p:ph type="body" idx="1"/>
          </p:nvPr>
        </p:nvSpPr>
        <p:spPr>
          <a:xfrm>
            <a:off x="853190" y="4443680"/>
            <a:ext cx="5891636" cy="713241"/>
          </a:xfrm>
        </p:spPr>
        <p:txBody>
          <a:bodyPr anchor="t">
            <a:no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9" name="Text Placeholder 5"/>
          <p:cNvSpPr>
            <a:spLocks noGrp="1"/>
          </p:cNvSpPr>
          <p:nvPr>
            <p:ph type="body" sz="quarter" idx="16"/>
          </p:nvPr>
        </p:nvSpPr>
        <p:spPr>
          <a:xfrm>
            <a:off x="7574642" y="1081456"/>
            <a:ext cx="3810001" cy="4075465"/>
          </a:xfrm>
        </p:spPr>
        <p:txBody>
          <a:bodyPr anchor="t"/>
          <a:lstStyle>
            <a:lvl1pPr marL="0" indent="0">
              <a:buFontTx/>
              <a:buNone/>
              <a:defRPr/>
            </a:lvl1pPr>
          </a:lstStyle>
          <a:p>
            <a:pPr lvl="0"/>
            <a:r>
              <a:rPr lang="en-US"/>
              <a:t>Click to edit Master text styles</a:t>
            </a:r>
          </a:p>
        </p:txBody>
      </p:sp>
      <p:sp>
        <p:nvSpPr>
          <p:cNvPr id="4" name="Date Placeholder 3"/>
          <p:cNvSpPr>
            <a:spLocks noGrp="1"/>
          </p:cNvSpPr>
          <p:nvPr>
            <p:ph type="dt" sz="half" idx="10"/>
          </p:nvPr>
        </p:nvSpPr>
        <p:spPr/>
        <p:txBody>
          <a:bodyPr/>
          <a:lstStyle/>
          <a:p>
            <a:fld id="{8DFA1846-DA80-1C48-A609-854EA85C59AD}" type="datetimeFigureOut">
              <a:rPr lang="en-US" dirty="0"/>
              <a:pPr/>
              <a:t>10/30/2025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9" name="Freeform 6"/>
          <p:cNvSpPr>
            <a:spLocks noChangeAspect="1"/>
          </p:cNvSpPr>
          <p:nvPr/>
        </p:nvSpPr>
        <p:spPr bwMode="auto">
          <a:xfrm>
            <a:off x="1140884" y="2286585"/>
            <a:ext cx="4895115" cy="2503972"/>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solidFill>
              <a:schemeClr val="accent1"/>
            </a:solidFill>
          </a:ln>
        </p:spPr>
        <p:style>
          <a:lnRef idx="1">
            <a:schemeClr val="accent1"/>
          </a:lnRef>
          <a:fillRef idx="3">
            <a:schemeClr val="accent1"/>
          </a:fillRef>
          <a:effectRef idx="2">
            <a:schemeClr val="accent1"/>
          </a:effectRef>
          <a:fontRef idx="minor">
            <a:schemeClr val="lt1"/>
          </a:fontRef>
        </p:style>
      </p:sp>
      <p:sp>
        <p:nvSpPr>
          <p:cNvPr id="38" name="Title 1"/>
          <p:cNvSpPr>
            <a:spLocks noGrp="1"/>
          </p:cNvSpPr>
          <p:nvPr>
            <p:ph type="title"/>
          </p:nvPr>
        </p:nvSpPr>
        <p:spPr>
          <a:xfrm>
            <a:off x="1357089" y="2435957"/>
            <a:ext cx="4382521" cy="2007789"/>
          </a:xfrm>
        </p:spPr>
        <p:txBody>
          <a:bodyPr/>
          <a:lstStyle>
            <a:lvl1pPr>
              <a:defRPr sz="3200"/>
            </a:lvl1pPr>
          </a:lstStyle>
          <a:p>
            <a:r>
              <a:rPr lang="en-US"/>
              <a:t>Click to edit Master title style</a:t>
            </a:r>
            <a:endParaRPr lang="en-US" dirty="0"/>
          </a:p>
        </p:txBody>
      </p:sp>
      <p:sp>
        <p:nvSpPr>
          <p:cNvPr id="6" name="Text Placeholder 5"/>
          <p:cNvSpPr>
            <a:spLocks noGrp="1"/>
          </p:cNvSpPr>
          <p:nvPr>
            <p:ph type="body" sz="quarter" idx="16"/>
          </p:nvPr>
        </p:nvSpPr>
        <p:spPr>
          <a:xfrm>
            <a:off x="6156000" y="2286000"/>
            <a:ext cx="4880300" cy="2295525"/>
          </a:xfrm>
        </p:spPr>
        <p:txBody>
          <a:bodyPr anchor="t"/>
          <a:lstStyle>
            <a:lvl1pPr marL="0" indent="0">
              <a:buFontTx/>
              <a:buNone/>
              <a:defRPr/>
            </a:lvl1pPr>
          </a:lstStyle>
          <a:p>
            <a:pPr lvl="0"/>
            <a:r>
              <a:rPr lang="en-US"/>
              <a:t>Click to edit Master text styles</a:t>
            </a:r>
          </a:p>
        </p:txBody>
      </p:sp>
      <p:sp>
        <p:nvSpPr>
          <p:cNvPr id="2" name="Date Placeholder 1"/>
          <p:cNvSpPr>
            <a:spLocks noGrp="1"/>
          </p:cNvSpPr>
          <p:nvPr>
            <p:ph type="dt" sz="half" idx="10"/>
          </p:nvPr>
        </p:nvSpPr>
        <p:spPr/>
        <p:txBody>
          <a:bodyPr/>
          <a:lstStyle/>
          <a:p>
            <a:fld id="{FBF54567-0DE4-3F47-BF90-CB84690072F9}" type="datetimeFigureOut">
              <a:rPr lang="en-US" dirty="0"/>
              <a:pPr/>
              <a:t>10/30/2025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6C52C72-DE31-F449-A4ED-4C594FD91407}" type="datetimeFigureOut">
              <a:rPr lang="en-US" dirty="0"/>
              <a:pPr/>
              <a:t>10/30/2025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2" name="Freeform 6"/>
          <p:cNvSpPr>
            <a:spLocks noChangeAspect="1"/>
          </p:cNvSpPr>
          <p:nvPr/>
        </p:nvSpPr>
        <p:spPr bwMode="auto">
          <a:xfrm>
            <a:off x="7669651" y="446089"/>
            <a:ext cx="4522349" cy="5414962"/>
          </a:xfrm>
          <a:custGeom>
            <a:avLst/>
            <a:gdLst/>
            <a:ahLst/>
            <a:cxnLst/>
            <a:rect l="0" t="0" r="r" b="b"/>
            <a:pathLst>
              <a:path w="2879" h="4320">
                <a:moveTo>
                  <a:pt x="183" y="0"/>
                </a:moveTo>
                <a:lnTo>
                  <a:pt x="183" y="1197"/>
                </a:lnTo>
                <a:lnTo>
                  <a:pt x="8" y="1372"/>
                </a:lnTo>
                <a:lnTo>
                  <a:pt x="8" y="1372"/>
                </a:lnTo>
                <a:lnTo>
                  <a:pt x="6" y="1376"/>
                </a:lnTo>
                <a:lnTo>
                  <a:pt x="3" y="1382"/>
                </a:lnTo>
                <a:lnTo>
                  <a:pt x="0" y="1387"/>
                </a:lnTo>
                <a:lnTo>
                  <a:pt x="0" y="1393"/>
                </a:lnTo>
                <a:lnTo>
                  <a:pt x="0" y="1399"/>
                </a:lnTo>
                <a:lnTo>
                  <a:pt x="3" y="1404"/>
                </a:lnTo>
                <a:lnTo>
                  <a:pt x="6" y="1410"/>
                </a:lnTo>
                <a:lnTo>
                  <a:pt x="8" y="1414"/>
                </a:lnTo>
                <a:lnTo>
                  <a:pt x="183" y="1589"/>
                </a:lnTo>
                <a:lnTo>
                  <a:pt x="183" y="4320"/>
                </a:lnTo>
                <a:lnTo>
                  <a:pt x="2879" y="4320"/>
                </a:lnTo>
                <a:lnTo>
                  <a:pt x="2879" y="0"/>
                </a:lnTo>
                <a:lnTo>
                  <a:pt x="183"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183540" y="586171"/>
            <a:ext cx="2494791" cy="51347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10001" y="446089"/>
            <a:ext cx="6611540" cy="5414962"/>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D62726E-379B-B349-9EED-81ED093FA806}" type="datetimeFigureOut">
              <a:rPr lang="en-US" dirty="0"/>
              <a:pPr/>
              <a:t>10/30/2025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0000" y="447188"/>
            <a:ext cx="10571998" cy="970450"/>
          </a:xfrm>
          <a:prstGeom prst="rect">
            <a:avLst/>
          </a:prstGeom>
          <a:effectLst>
            <a:outerShdw blurRad="50800" dir="14400000">
              <a:srgbClr val="000000">
                <a:alpha val="60000"/>
              </a:srgbClr>
            </a:outerShdw>
          </a:effectLst>
        </p:spPr>
        <p:txBody>
          <a:bodyPr vert="horz" lIns="91440" tIns="45720" rIns="91440" bIns="45720" rtlCol="0" anchor="b">
            <a:noAutofit/>
          </a:bodyPr>
          <a:lstStyle/>
          <a:p>
            <a:r>
              <a:rPr lang="en-US"/>
              <a:t>Click to edit Master title style</a:t>
            </a:r>
            <a:endParaRPr lang="en-US" dirty="0"/>
          </a:p>
        </p:txBody>
      </p:sp>
      <p:sp>
        <p:nvSpPr>
          <p:cNvPr id="3" name="Text Placeholder 2"/>
          <p:cNvSpPr>
            <a:spLocks noGrp="1"/>
          </p:cNvSpPr>
          <p:nvPr>
            <p:ph type="body" idx="1"/>
          </p:nvPr>
        </p:nvSpPr>
        <p:spPr>
          <a:xfrm>
            <a:off x="810000" y="2184401"/>
            <a:ext cx="10563285" cy="3674397"/>
          </a:xfrm>
          <a:prstGeom prst="rect">
            <a:avLst/>
          </a:prstGeom>
          <a:effectLst>
            <a:outerShdw blurRad="50800" dir="14400000">
              <a:srgbClr val="000000">
                <a:alpha val="40000"/>
              </a:srgbClr>
            </a:outerShdw>
          </a:effectLst>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3"/>
          </p:nvPr>
        </p:nvSpPr>
        <p:spPr>
          <a:xfrm>
            <a:off x="451514" y="6041362"/>
            <a:ext cx="8644320" cy="365125"/>
          </a:xfrm>
          <a:prstGeom prst="rect">
            <a:avLst/>
          </a:prstGeom>
        </p:spPr>
        <p:txBody>
          <a:bodyPr vert="horz" lIns="91440" tIns="45720" rIns="91440" bIns="45720" rtlCol="0" anchor="b"/>
          <a:lstStyle>
            <a:lvl1pPr algn="l">
              <a:defRPr sz="900">
                <a:solidFill>
                  <a:schemeClr val="tx1"/>
                </a:solidFill>
              </a:defRPr>
            </a:lvl1pPr>
          </a:lstStyle>
          <a:p>
            <a:endParaRPr lang="en-US" dirty="0"/>
          </a:p>
        </p:txBody>
      </p:sp>
      <p:sp>
        <p:nvSpPr>
          <p:cNvPr id="4" name="Date Placeholder 3"/>
          <p:cNvSpPr>
            <a:spLocks noGrp="1"/>
          </p:cNvSpPr>
          <p:nvPr>
            <p:ph type="dt" sz="half" idx="2"/>
          </p:nvPr>
        </p:nvSpPr>
        <p:spPr>
          <a:xfrm>
            <a:off x="9334626" y="6041362"/>
            <a:ext cx="1343706" cy="365125"/>
          </a:xfrm>
          <a:prstGeom prst="rect">
            <a:avLst/>
          </a:prstGeom>
        </p:spPr>
        <p:txBody>
          <a:bodyPr vert="horz" lIns="91440" tIns="45720" rIns="91440" bIns="45720" rtlCol="0" anchor="b"/>
          <a:lstStyle>
            <a:lvl1pPr algn="r">
              <a:defRPr sz="900">
                <a:solidFill>
                  <a:schemeClr val="tx1"/>
                </a:solidFill>
              </a:defRPr>
            </a:lvl1pPr>
          </a:lstStyle>
          <a:p>
            <a:fld id="{09B482E8-6E0E-1B4F-B1FD-C69DB9E858D9}" type="datetimeFigureOut">
              <a:rPr lang="en-US" dirty="0"/>
              <a:pPr/>
              <a:t>10/30/2025</a:t>
            </a:fld>
            <a:endParaRPr lang="en-US" dirty="0"/>
          </a:p>
        </p:txBody>
      </p:sp>
      <p:sp>
        <p:nvSpPr>
          <p:cNvPr id="6" name="Slide Number Placeholder 5"/>
          <p:cNvSpPr>
            <a:spLocks noGrp="1"/>
          </p:cNvSpPr>
          <p:nvPr>
            <p:ph type="sldNum" sz="quarter" idx="4"/>
          </p:nvPr>
        </p:nvSpPr>
        <p:spPr>
          <a:xfrm>
            <a:off x="10678331" y="5915888"/>
            <a:ext cx="1062155" cy="490599"/>
          </a:xfrm>
          <a:prstGeom prst="rect">
            <a:avLst/>
          </a:prstGeom>
        </p:spPr>
        <p:txBody>
          <a:bodyPr vert="horz" lIns="91440" tIns="45720" rIns="91440" bIns="10800" rtlCol="0" anchor="b"/>
          <a:lstStyle>
            <a:lvl1pPr algn="r">
              <a:defRPr sz="2000">
                <a:solidFill>
                  <a:schemeClr val="accent1"/>
                </a:solidFill>
              </a:defRPr>
            </a:lvl1pPr>
          </a:lstStyle>
          <a:p>
            <a:fld id="{D57F1E4F-1CFF-5643-939E-217C01CDF56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3" r:id="rId9"/>
    <p:sldLayoutId id="2147483657" r:id="rId10"/>
    <p:sldLayoutId id="2147483666" r:id="rId11"/>
    <p:sldLayoutId id="2147483661" r:id="rId12"/>
    <p:sldLayoutId id="2147483658" r:id="rId13"/>
    <p:sldLayoutId id="2147483659" r:id="rId14"/>
  </p:sldLayoutIdLst>
  <p:hf sldNum="0" hdr="0" ftr="0" dt="0"/>
  <p:txStyles>
    <p:titleStyle>
      <a:lvl1pPr algn="l" defTabSz="457200" rtl="0" eaLnBrk="1" latinLnBrk="0" hangingPunct="1">
        <a:spcBef>
          <a:spcPct val="0"/>
        </a:spcBef>
        <a:buNone/>
        <a:defRPr sz="4000" b="1" kern="1200">
          <a:solidFill>
            <a:srgbClr val="FEFEFE"/>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6.xm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132B4C-D94B-20C7-E00A-F46B36C8CA29}"/>
              </a:ext>
            </a:extLst>
          </p:cNvPr>
          <p:cNvSpPr>
            <a:spLocks noGrp="1"/>
          </p:cNvSpPr>
          <p:nvPr>
            <p:ph type="ctrTitle"/>
          </p:nvPr>
        </p:nvSpPr>
        <p:spPr/>
        <p:txBody>
          <a:bodyPr/>
          <a:lstStyle/>
          <a:p>
            <a:r>
              <a:rPr lang="en-US" dirty="0"/>
              <a:t>End-to-End Retail Performance and Behavioral Analytics </a:t>
            </a:r>
            <a:endParaRPr lang="en-IN" dirty="0"/>
          </a:p>
        </p:txBody>
      </p:sp>
      <p:sp>
        <p:nvSpPr>
          <p:cNvPr id="3" name="Subtitle 2">
            <a:extLst>
              <a:ext uri="{FF2B5EF4-FFF2-40B4-BE49-F238E27FC236}">
                <a16:creationId xmlns:a16="http://schemas.microsoft.com/office/drawing/2014/main" id="{777816D1-CF00-0A69-2238-A692A7068182}"/>
              </a:ext>
            </a:extLst>
          </p:cNvPr>
          <p:cNvSpPr>
            <a:spLocks noGrp="1"/>
          </p:cNvSpPr>
          <p:nvPr>
            <p:ph type="subTitle" idx="1"/>
          </p:nvPr>
        </p:nvSpPr>
        <p:spPr>
          <a:xfrm>
            <a:off x="810001" y="5280846"/>
            <a:ext cx="10572000" cy="824985"/>
          </a:xfrm>
        </p:spPr>
        <p:txBody>
          <a:bodyPr>
            <a:normAutofit/>
          </a:bodyPr>
          <a:lstStyle/>
          <a:p>
            <a:pPr algn="r"/>
            <a:r>
              <a:rPr lang="en-US" dirty="0"/>
              <a:t>Presented by </a:t>
            </a:r>
          </a:p>
          <a:p>
            <a:pPr algn="r"/>
            <a:r>
              <a:rPr lang="en-IN" dirty="0"/>
              <a:t>Abhinav Davu</a:t>
            </a:r>
          </a:p>
        </p:txBody>
      </p:sp>
      <p:sp>
        <p:nvSpPr>
          <p:cNvPr id="4" name="TextBox 3">
            <a:extLst>
              <a:ext uri="{FF2B5EF4-FFF2-40B4-BE49-F238E27FC236}">
                <a16:creationId xmlns:a16="http://schemas.microsoft.com/office/drawing/2014/main" id="{937C7FCA-D118-4851-72B0-90F1B028F4EB}"/>
              </a:ext>
            </a:extLst>
          </p:cNvPr>
          <p:cNvSpPr txBox="1"/>
          <p:nvPr/>
        </p:nvSpPr>
        <p:spPr>
          <a:xfrm>
            <a:off x="426027" y="5280846"/>
            <a:ext cx="3886200" cy="923330"/>
          </a:xfrm>
          <a:prstGeom prst="rect">
            <a:avLst/>
          </a:prstGeom>
          <a:noFill/>
        </p:spPr>
        <p:txBody>
          <a:bodyPr wrap="square" rtlCol="0">
            <a:spAutoFit/>
          </a:bodyPr>
          <a:lstStyle/>
          <a:p>
            <a:r>
              <a:rPr lang="en-US" dirty="0"/>
              <a:t>Company Name: </a:t>
            </a:r>
            <a:r>
              <a:rPr lang="en-US" dirty="0" err="1"/>
              <a:t>RetailNova</a:t>
            </a:r>
            <a:r>
              <a:rPr lang="en-US" dirty="0"/>
              <a:t> Inc.</a:t>
            </a:r>
          </a:p>
          <a:p>
            <a:r>
              <a:rPr lang="en-US" dirty="0"/>
              <a:t>Industry: Retail &amp; E-Commerce</a:t>
            </a:r>
          </a:p>
          <a:p>
            <a:endParaRPr lang="en-IN" dirty="0"/>
          </a:p>
        </p:txBody>
      </p:sp>
    </p:spTree>
    <p:extLst>
      <p:ext uri="{BB962C8B-B14F-4D97-AF65-F5344CB8AC3E}">
        <p14:creationId xmlns:p14="http://schemas.microsoft.com/office/powerpoint/2010/main" val="30357653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C80738-AA4C-FC83-76FF-531B947C62D7}"/>
              </a:ext>
            </a:extLst>
          </p:cNvPr>
          <p:cNvSpPr>
            <a:spLocks noGrp="1"/>
          </p:cNvSpPr>
          <p:nvPr>
            <p:ph type="title"/>
          </p:nvPr>
        </p:nvSpPr>
        <p:spPr/>
        <p:txBody>
          <a:bodyPr/>
          <a:lstStyle/>
          <a:p>
            <a:r>
              <a:rPr lang="en-US" dirty="0"/>
              <a:t>Agenda</a:t>
            </a:r>
            <a:endParaRPr lang="en-IN" dirty="0"/>
          </a:p>
        </p:txBody>
      </p:sp>
      <p:sp>
        <p:nvSpPr>
          <p:cNvPr id="3" name="Content Placeholder 2">
            <a:extLst>
              <a:ext uri="{FF2B5EF4-FFF2-40B4-BE49-F238E27FC236}">
                <a16:creationId xmlns:a16="http://schemas.microsoft.com/office/drawing/2014/main" id="{08845308-1F7E-9F76-ED16-B201272C5F14}"/>
              </a:ext>
            </a:extLst>
          </p:cNvPr>
          <p:cNvSpPr>
            <a:spLocks noGrp="1"/>
          </p:cNvSpPr>
          <p:nvPr>
            <p:ph idx="1"/>
          </p:nvPr>
        </p:nvSpPr>
        <p:spPr>
          <a:xfrm>
            <a:off x="818712" y="2222287"/>
            <a:ext cx="10554574" cy="4306332"/>
          </a:xfrm>
        </p:spPr>
        <p:txBody>
          <a:bodyPr>
            <a:normAutofit/>
          </a:bodyPr>
          <a:lstStyle/>
          <a:p>
            <a:r>
              <a:rPr lang="en-US" sz="2600" b="1" dirty="0">
                <a:latin typeface="Arial" panose="020B0604020202020204" pitchFamily="34" charset="0"/>
                <a:cs typeface="Arial" panose="020B0604020202020204" pitchFamily="34" charset="0"/>
              </a:rPr>
              <a:t>Introduction</a:t>
            </a:r>
          </a:p>
          <a:p>
            <a:r>
              <a:rPr lang="en-US" sz="2500" b="1" dirty="0">
                <a:latin typeface="Arial" panose="020B0604020202020204" pitchFamily="34" charset="0"/>
                <a:cs typeface="Arial" panose="020B0604020202020204" pitchFamily="34" charset="0"/>
              </a:rPr>
              <a:t>Objectives</a:t>
            </a:r>
          </a:p>
          <a:p>
            <a:r>
              <a:rPr lang="en-IN" sz="2500" b="1" dirty="0">
                <a:latin typeface="Arial" panose="020B0604020202020204" pitchFamily="34" charset="0"/>
                <a:cs typeface="Arial" panose="020B0604020202020204" pitchFamily="34" charset="0"/>
              </a:rPr>
              <a:t>Methodology</a:t>
            </a:r>
          </a:p>
          <a:p>
            <a:pPr lvl="1">
              <a:buFont typeface="Wingdings" panose="05000000000000000000" pitchFamily="2" charset="2"/>
              <a:buChar char="Ø"/>
            </a:pPr>
            <a:r>
              <a:rPr lang="en-IN" sz="1700" dirty="0">
                <a:latin typeface="Arial" panose="020B0604020202020204" pitchFamily="34" charset="0"/>
                <a:cs typeface="Arial" panose="020B0604020202020204" pitchFamily="34" charset="0"/>
              </a:rPr>
              <a:t>Data Collection</a:t>
            </a:r>
          </a:p>
          <a:p>
            <a:pPr lvl="1">
              <a:buFont typeface="Wingdings" panose="05000000000000000000" pitchFamily="2" charset="2"/>
              <a:buChar char="Ø"/>
            </a:pPr>
            <a:r>
              <a:rPr lang="en-IN" sz="1700" dirty="0">
                <a:latin typeface="Arial" panose="020B0604020202020204" pitchFamily="34" charset="0"/>
                <a:cs typeface="Arial" panose="020B0604020202020204" pitchFamily="34" charset="0"/>
              </a:rPr>
              <a:t>Data Cleaning</a:t>
            </a:r>
          </a:p>
          <a:p>
            <a:pPr lvl="1">
              <a:buFont typeface="Wingdings" panose="05000000000000000000" pitchFamily="2" charset="2"/>
              <a:buChar char="Ø"/>
            </a:pPr>
            <a:r>
              <a:rPr lang="en-IN" sz="1700" dirty="0">
                <a:latin typeface="Arial" panose="020B0604020202020204" pitchFamily="34" charset="0"/>
                <a:cs typeface="Arial" panose="020B0604020202020204" pitchFamily="34" charset="0"/>
              </a:rPr>
              <a:t>SQL Analysis</a:t>
            </a:r>
          </a:p>
          <a:p>
            <a:pPr lvl="1">
              <a:buFont typeface="Wingdings" panose="05000000000000000000" pitchFamily="2" charset="2"/>
              <a:buChar char="Ø"/>
            </a:pPr>
            <a:r>
              <a:rPr lang="en-IN" sz="1700" dirty="0">
                <a:latin typeface="Arial" panose="020B0604020202020204" pitchFamily="34" charset="0"/>
                <a:cs typeface="Arial" panose="020B0604020202020204" pitchFamily="34" charset="0"/>
              </a:rPr>
              <a:t>Data Visualization</a:t>
            </a:r>
            <a:endParaRPr lang="en-CA" sz="2500" b="1" dirty="0">
              <a:latin typeface="Arial" panose="020B0604020202020204" pitchFamily="34" charset="0"/>
              <a:cs typeface="Arial" panose="020B0604020202020204" pitchFamily="34" charset="0"/>
            </a:endParaRPr>
          </a:p>
          <a:p>
            <a:r>
              <a:rPr lang="en-CA" sz="2500" b="1" dirty="0">
                <a:latin typeface="Arial" panose="020B0604020202020204" pitchFamily="34" charset="0"/>
                <a:cs typeface="Arial" panose="020B0604020202020204" pitchFamily="34" charset="0"/>
              </a:rPr>
              <a:t>Challenges</a:t>
            </a:r>
          </a:p>
          <a:p>
            <a:r>
              <a:rPr lang="en-CA" sz="2500" b="1" dirty="0">
                <a:latin typeface="Arial" panose="020B0604020202020204" pitchFamily="34" charset="0"/>
                <a:cs typeface="Arial" panose="020B0604020202020204" pitchFamily="34" charset="0"/>
              </a:rPr>
              <a:t>Conclusion</a:t>
            </a:r>
            <a:endParaRPr lang="en-IN"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076213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C0A46D-A2B4-D62D-5CFB-5F07F415637D}"/>
              </a:ext>
            </a:extLst>
          </p:cNvPr>
          <p:cNvSpPr>
            <a:spLocks noGrp="1"/>
          </p:cNvSpPr>
          <p:nvPr>
            <p:ph type="title"/>
          </p:nvPr>
        </p:nvSpPr>
        <p:spPr/>
        <p:txBody>
          <a:bodyPr/>
          <a:lstStyle/>
          <a:p>
            <a:r>
              <a:rPr lang="en-US" dirty="0"/>
              <a:t>Introduction</a:t>
            </a:r>
            <a:endParaRPr lang="en-IN" dirty="0"/>
          </a:p>
        </p:txBody>
      </p:sp>
      <p:sp>
        <p:nvSpPr>
          <p:cNvPr id="3" name="Content Placeholder 2">
            <a:extLst>
              <a:ext uri="{FF2B5EF4-FFF2-40B4-BE49-F238E27FC236}">
                <a16:creationId xmlns:a16="http://schemas.microsoft.com/office/drawing/2014/main" id="{E0DFFA04-6441-0207-538D-2EBBDFA1F279}"/>
              </a:ext>
            </a:extLst>
          </p:cNvPr>
          <p:cNvSpPr>
            <a:spLocks noGrp="1"/>
          </p:cNvSpPr>
          <p:nvPr>
            <p:ph idx="1"/>
          </p:nvPr>
        </p:nvSpPr>
        <p:spPr/>
        <p:txBody>
          <a:bodyPr/>
          <a:lstStyle/>
          <a:p>
            <a:pPr marL="0" indent="0">
              <a:buNone/>
            </a:pPr>
            <a:r>
              <a:rPr lang="en-US" sz="2400" dirty="0">
                <a:latin typeface="Arial" panose="020B0604020202020204" pitchFamily="34" charset="0"/>
                <a:cs typeface="Arial" panose="020B0604020202020204" pitchFamily="34" charset="0"/>
              </a:rPr>
              <a:t>Retail businesses generate vast amounts of data across sales, customers, products, stores, and returns. This project focuses on transforming raw data into meaningful insights for better business decisions. Project analyzes retail business data for actionable insights.</a:t>
            </a:r>
            <a:endParaRPr lang="en-US" sz="2400" dirty="0"/>
          </a:p>
          <a:p>
            <a:r>
              <a:rPr lang="en-US" sz="2400" dirty="0">
                <a:latin typeface="Arial" panose="020B0604020202020204" pitchFamily="34" charset="0"/>
                <a:cs typeface="Arial" panose="020B0604020202020204" pitchFamily="34" charset="0"/>
              </a:rPr>
              <a:t>Combines sales, customer, product, store, and return datasets</a:t>
            </a:r>
          </a:p>
          <a:p>
            <a:r>
              <a:rPr lang="en-US" sz="2400" dirty="0">
                <a:latin typeface="Arial" panose="020B0604020202020204" pitchFamily="34" charset="0"/>
                <a:cs typeface="Arial" panose="020B0604020202020204" pitchFamily="34" charset="0"/>
              </a:rPr>
              <a:t>Uses systematic data cleaning and visualizations</a:t>
            </a:r>
          </a:p>
          <a:p>
            <a:r>
              <a:rPr lang="en-US" sz="2400" dirty="0">
                <a:latin typeface="Arial" panose="020B0604020202020204" pitchFamily="34" charset="0"/>
                <a:cs typeface="Arial" panose="020B0604020202020204" pitchFamily="34" charset="0"/>
              </a:rPr>
              <a:t>Supports better decision-making and business growth</a:t>
            </a:r>
          </a:p>
          <a:p>
            <a:endParaRPr lang="en-IN" dirty="0"/>
          </a:p>
        </p:txBody>
      </p:sp>
    </p:spTree>
    <p:extLst>
      <p:ext uri="{BB962C8B-B14F-4D97-AF65-F5344CB8AC3E}">
        <p14:creationId xmlns:p14="http://schemas.microsoft.com/office/powerpoint/2010/main" val="39163916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FFEFBB-3DAB-22BF-7FAA-CAA7B6483AA6}"/>
              </a:ext>
            </a:extLst>
          </p:cNvPr>
          <p:cNvSpPr>
            <a:spLocks noGrp="1"/>
          </p:cNvSpPr>
          <p:nvPr>
            <p:ph type="title"/>
          </p:nvPr>
        </p:nvSpPr>
        <p:spPr>
          <a:xfrm>
            <a:off x="818712" y="319369"/>
            <a:ext cx="10571998" cy="1332450"/>
          </a:xfrm>
        </p:spPr>
        <p:txBody>
          <a:bodyPr/>
          <a:lstStyle/>
          <a:p>
            <a:r>
              <a:rPr lang="en-US" dirty="0"/>
              <a:t>Methodology</a:t>
            </a:r>
            <a:br>
              <a:rPr lang="en-US" dirty="0"/>
            </a:br>
            <a:r>
              <a:rPr lang="en-US" dirty="0"/>
              <a:t>Data Reading:</a:t>
            </a:r>
            <a:endParaRPr lang="en-IN" dirty="0"/>
          </a:p>
        </p:txBody>
      </p:sp>
      <p:sp>
        <p:nvSpPr>
          <p:cNvPr id="3" name="Content Placeholder 2">
            <a:extLst>
              <a:ext uri="{FF2B5EF4-FFF2-40B4-BE49-F238E27FC236}">
                <a16:creationId xmlns:a16="http://schemas.microsoft.com/office/drawing/2014/main" id="{FBC79CE3-F6A3-5D75-A67F-1D4ED9DF4A4A}"/>
              </a:ext>
            </a:extLst>
          </p:cNvPr>
          <p:cNvSpPr>
            <a:spLocks noGrp="1"/>
          </p:cNvSpPr>
          <p:nvPr>
            <p:ph idx="1"/>
          </p:nvPr>
        </p:nvSpPr>
        <p:spPr/>
        <p:txBody>
          <a:bodyPr/>
          <a:lstStyle/>
          <a:p>
            <a:pPr>
              <a:buFont typeface="Wingdings" panose="05000000000000000000" pitchFamily="2" charset="2"/>
              <a:buChar char="Ø"/>
            </a:pPr>
            <a:endParaRPr lang="en-US" sz="2400" b="1" dirty="0"/>
          </a:p>
          <a:p>
            <a:r>
              <a:rPr lang="en-US" dirty="0">
                <a:latin typeface="Arial" panose="020B0604020202020204" pitchFamily="34" charset="0"/>
                <a:cs typeface="Arial" panose="020B0604020202020204" pitchFamily="34" charset="0"/>
              </a:rPr>
              <a:t>Load sales, customer, product, store, and return data from CSV files into Python for analysis.</a:t>
            </a:r>
          </a:p>
          <a:p>
            <a:r>
              <a:rPr lang="en-US" dirty="0">
                <a:latin typeface="Arial" panose="020B0604020202020204" pitchFamily="34" charset="0"/>
                <a:cs typeface="Arial" panose="020B0604020202020204" pitchFamily="34" charset="0"/>
              </a:rPr>
              <a:t>Tools used: Python (pandas), </a:t>
            </a:r>
            <a:r>
              <a:rPr lang="en-US" dirty="0" err="1">
                <a:latin typeface="Arial" panose="020B0604020202020204" pitchFamily="34" charset="0"/>
                <a:cs typeface="Arial" panose="020B0604020202020204" pitchFamily="34" charset="0"/>
              </a:rPr>
              <a:t>Jupyter</a:t>
            </a:r>
            <a:r>
              <a:rPr lang="en-US" dirty="0">
                <a:latin typeface="Arial" panose="020B0604020202020204" pitchFamily="34" charset="0"/>
                <a:cs typeface="Arial" panose="020B0604020202020204" pitchFamily="34" charset="0"/>
              </a:rPr>
              <a:t> Notebook for reading and inspecting data.</a:t>
            </a:r>
          </a:p>
          <a:p>
            <a:endParaRPr lang="en-US" sz="2400" dirty="0">
              <a:latin typeface="Arial" panose="020B0604020202020204" pitchFamily="34" charset="0"/>
              <a:cs typeface="Arial" panose="020B0604020202020204" pitchFamily="34" charset="0"/>
            </a:endParaRPr>
          </a:p>
          <a:p>
            <a:endParaRPr lang="en-US" sz="2400" dirty="0"/>
          </a:p>
          <a:p>
            <a:pPr marL="0" indent="0">
              <a:buNone/>
            </a:pPr>
            <a:endParaRPr lang="en-US" sz="2400" dirty="0"/>
          </a:p>
          <a:p>
            <a:endParaRPr lang="en-US" sz="2400" dirty="0"/>
          </a:p>
          <a:p>
            <a:endParaRPr lang="en-IN" dirty="0"/>
          </a:p>
        </p:txBody>
      </p:sp>
      <p:pic>
        <p:nvPicPr>
          <p:cNvPr id="5" name="Picture 4">
            <a:extLst>
              <a:ext uri="{FF2B5EF4-FFF2-40B4-BE49-F238E27FC236}">
                <a16:creationId xmlns:a16="http://schemas.microsoft.com/office/drawing/2014/main" id="{70527535-998E-9A3D-1027-FB8272C75081}"/>
              </a:ext>
            </a:extLst>
          </p:cNvPr>
          <p:cNvPicPr>
            <a:picLocks noChangeAspect="1"/>
          </p:cNvPicPr>
          <p:nvPr/>
        </p:nvPicPr>
        <p:blipFill>
          <a:blip r:embed="rId2"/>
          <a:stretch>
            <a:fillRect/>
          </a:stretch>
        </p:blipFill>
        <p:spPr>
          <a:xfrm>
            <a:off x="5469706" y="3813689"/>
            <a:ext cx="3762900" cy="1600423"/>
          </a:xfrm>
          <a:prstGeom prst="rect">
            <a:avLst/>
          </a:prstGeom>
        </p:spPr>
      </p:pic>
      <p:pic>
        <p:nvPicPr>
          <p:cNvPr id="7" name="Picture 6">
            <a:extLst>
              <a:ext uri="{FF2B5EF4-FFF2-40B4-BE49-F238E27FC236}">
                <a16:creationId xmlns:a16="http://schemas.microsoft.com/office/drawing/2014/main" id="{42C6892F-2CB1-B315-6948-61C1989FDDC7}"/>
              </a:ext>
            </a:extLst>
          </p:cNvPr>
          <p:cNvPicPr>
            <a:picLocks noChangeAspect="1"/>
          </p:cNvPicPr>
          <p:nvPr/>
        </p:nvPicPr>
        <p:blipFill>
          <a:blip r:embed="rId3"/>
          <a:stretch>
            <a:fillRect/>
          </a:stretch>
        </p:blipFill>
        <p:spPr>
          <a:xfrm>
            <a:off x="1268201" y="3813689"/>
            <a:ext cx="3391730" cy="1600423"/>
          </a:xfrm>
          <a:prstGeom prst="rect">
            <a:avLst/>
          </a:prstGeom>
        </p:spPr>
      </p:pic>
    </p:spTree>
    <p:extLst>
      <p:ext uri="{BB962C8B-B14F-4D97-AF65-F5344CB8AC3E}">
        <p14:creationId xmlns:p14="http://schemas.microsoft.com/office/powerpoint/2010/main" val="24618599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B65BD0-5BC8-2C1F-CC3B-BB85B03CCB90}"/>
              </a:ext>
            </a:extLst>
          </p:cNvPr>
          <p:cNvSpPr>
            <a:spLocks noGrp="1"/>
          </p:cNvSpPr>
          <p:nvPr>
            <p:ph type="title"/>
          </p:nvPr>
        </p:nvSpPr>
        <p:spPr/>
        <p:txBody>
          <a:bodyPr/>
          <a:lstStyle/>
          <a:p>
            <a:r>
              <a:rPr lang="en-US" dirty="0"/>
              <a:t>Data Cleaning:</a:t>
            </a:r>
            <a:endParaRPr lang="en-IN" dirty="0"/>
          </a:p>
        </p:txBody>
      </p:sp>
      <p:sp>
        <p:nvSpPr>
          <p:cNvPr id="3" name="Content Placeholder 2">
            <a:extLst>
              <a:ext uri="{FF2B5EF4-FFF2-40B4-BE49-F238E27FC236}">
                <a16:creationId xmlns:a16="http://schemas.microsoft.com/office/drawing/2014/main" id="{A6047D0C-7544-AD37-E12A-1E31F70EC3A9}"/>
              </a:ext>
            </a:extLst>
          </p:cNvPr>
          <p:cNvSpPr>
            <a:spLocks noGrp="1"/>
          </p:cNvSpPr>
          <p:nvPr>
            <p:ph idx="1"/>
          </p:nvPr>
        </p:nvSpPr>
        <p:spPr>
          <a:xfrm>
            <a:off x="818712" y="2428568"/>
            <a:ext cx="10554574" cy="3430232"/>
          </a:xfrm>
        </p:spPr>
        <p:txBody>
          <a:bodyPr>
            <a:normAutofit/>
          </a:bodyPr>
          <a:lstStyle/>
          <a:p>
            <a:pPr marL="0" indent="0">
              <a:buNone/>
            </a:pPr>
            <a:endParaRPr lang="en-US" dirty="0"/>
          </a:p>
          <a:p>
            <a:pPr>
              <a:buFont typeface="Arial" panose="020B0604020202020204" pitchFamily="34" charset="0"/>
              <a:buChar char="•"/>
            </a:pPr>
            <a:r>
              <a:rPr lang="en-US" dirty="0">
                <a:latin typeface="Arial" panose="020B0604020202020204" pitchFamily="34" charset="0"/>
                <a:cs typeface="Arial" panose="020B0604020202020204" pitchFamily="34" charset="0"/>
              </a:rPr>
              <a:t>Handle missing values, convert column types, and create calculated features (profit, age group, etc.).</a:t>
            </a:r>
          </a:p>
          <a:p>
            <a:pPr>
              <a:buFont typeface="Arial" panose="020B0604020202020204" pitchFamily="34" charset="0"/>
              <a:buChar char="•"/>
            </a:pPr>
            <a:endParaRPr lang="en-US" dirty="0">
              <a:latin typeface="Arial" panose="020B0604020202020204" pitchFamily="34" charset="0"/>
              <a:cs typeface="Arial" panose="020B0604020202020204" pitchFamily="34" charset="0"/>
            </a:endParaRPr>
          </a:p>
          <a:p>
            <a:pPr>
              <a:buFont typeface="Arial" panose="020B0604020202020204" pitchFamily="34" charset="0"/>
              <a:buChar char="•"/>
            </a:pPr>
            <a:endParaRPr lang="en-US" dirty="0">
              <a:latin typeface="Arial" panose="020B0604020202020204" pitchFamily="34" charset="0"/>
              <a:cs typeface="Arial" panose="020B0604020202020204" pitchFamily="34" charset="0"/>
            </a:endParaRPr>
          </a:p>
          <a:p>
            <a:pPr>
              <a:buFont typeface="Arial" panose="020B0604020202020204" pitchFamily="34" charset="0"/>
              <a:buChar char="•"/>
            </a:pPr>
            <a:endParaRPr lang="en-US" dirty="0">
              <a:latin typeface="Arial" panose="020B0604020202020204" pitchFamily="34" charset="0"/>
              <a:cs typeface="Arial" panose="020B0604020202020204" pitchFamily="34" charset="0"/>
            </a:endParaRPr>
          </a:p>
          <a:p>
            <a:pPr>
              <a:buFont typeface="Arial" panose="020B0604020202020204" pitchFamily="34" charset="0"/>
              <a:buChar char="•"/>
            </a:pPr>
            <a:endParaRPr lang="en-US" dirty="0">
              <a:latin typeface="Arial" panose="020B0604020202020204" pitchFamily="34" charset="0"/>
              <a:cs typeface="Arial" panose="020B0604020202020204" pitchFamily="34" charset="0"/>
            </a:endParaRPr>
          </a:p>
          <a:p>
            <a:pPr>
              <a:buFont typeface="Arial" panose="020B0604020202020204" pitchFamily="34" charset="0"/>
              <a:buChar char="•"/>
            </a:pPr>
            <a:r>
              <a:rPr lang="en-US" dirty="0">
                <a:latin typeface="Arial" panose="020B0604020202020204" pitchFamily="34" charset="0"/>
                <a:cs typeface="Arial" panose="020B0604020202020204" pitchFamily="34" charset="0"/>
              </a:rPr>
              <a:t>Convert data types (e.g., dates, numbers) to ensure consistency across datasets.</a:t>
            </a:r>
          </a:p>
          <a:p>
            <a:pPr marL="0" indent="0">
              <a:buNone/>
            </a:pPr>
            <a:endParaRPr lang="en-US" dirty="0"/>
          </a:p>
          <a:p>
            <a:pPr marL="0" indent="0">
              <a:buNone/>
            </a:pPr>
            <a:endParaRPr lang="en-US" dirty="0"/>
          </a:p>
        </p:txBody>
      </p:sp>
      <p:pic>
        <p:nvPicPr>
          <p:cNvPr id="5" name="Picture 4">
            <a:extLst>
              <a:ext uri="{FF2B5EF4-FFF2-40B4-BE49-F238E27FC236}">
                <a16:creationId xmlns:a16="http://schemas.microsoft.com/office/drawing/2014/main" id="{21DC7591-474A-3983-FEC2-E52B31242940}"/>
              </a:ext>
            </a:extLst>
          </p:cNvPr>
          <p:cNvPicPr>
            <a:picLocks noChangeAspect="1"/>
          </p:cNvPicPr>
          <p:nvPr/>
        </p:nvPicPr>
        <p:blipFill>
          <a:blip r:embed="rId3"/>
          <a:stretch>
            <a:fillRect/>
          </a:stretch>
        </p:blipFill>
        <p:spPr>
          <a:xfrm>
            <a:off x="1202170" y="3301181"/>
            <a:ext cx="3858163" cy="1524213"/>
          </a:xfrm>
          <a:prstGeom prst="rect">
            <a:avLst/>
          </a:prstGeom>
        </p:spPr>
      </p:pic>
      <p:pic>
        <p:nvPicPr>
          <p:cNvPr id="7" name="Picture 6">
            <a:extLst>
              <a:ext uri="{FF2B5EF4-FFF2-40B4-BE49-F238E27FC236}">
                <a16:creationId xmlns:a16="http://schemas.microsoft.com/office/drawing/2014/main" id="{5B97278C-991B-411D-6A70-11FB311F2175}"/>
              </a:ext>
            </a:extLst>
          </p:cNvPr>
          <p:cNvPicPr>
            <a:picLocks noChangeAspect="1"/>
          </p:cNvPicPr>
          <p:nvPr/>
        </p:nvPicPr>
        <p:blipFill>
          <a:blip r:embed="rId4"/>
          <a:stretch>
            <a:fillRect/>
          </a:stretch>
        </p:blipFill>
        <p:spPr>
          <a:xfrm>
            <a:off x="1202170" y="5478153"/>
            <a:ext cx="5792008" cy="962159"/>
          </a:xfrm>
          <a:prstGeom prst="rect">
            <a:avLst/>
          </a:prstGeom>
        </p:spPr>
      </p:pic>
    </p:spTree>
    <p:extLst>
      <p:ext uri="{BB962C8B-B14F-4D97-AF65-F5344CB8AC3E}">
        <p14:creationId xmlns:p14="http://schemas.microsoft.com/office/powerpoint/2010/main" val="24855807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D575533-8BF6-0607-95E5-42F2B131E8DB}"/>
              </a:ext>
            </a:extLst>
          </p:cNvPr>
          <p:cNvSpPr>
            <a:spLocks noGrp="1"/>
          </p:cNvSpPr>
          <p:nvPr>
            <p:ph idx="1"/>
          </p:nvPr>
        </p:nvSpPr>
        <p:spPr>
          <a:xfrm>
            <a:off x="818712" y="2493818"/>
            <a:ext cx="10554574" cy="3364980"/>
          </a:xfrm>
        </p:spPr>
        <p:txBody>
          <a:bodyPr/>
          <a:lstStyle/>
          <a:p>
            <a:r>
              <a:rPr lang="en-US" dirty="0">
                <a:latin typeface="Arial" panose="020B0604020202020204" pitchFamily="34" charset="0"/>
                <a:cs typeface="Arial" panose="020B0604020202020204" pitchFamily="34" charset="0"/>
              </a:rPr>
              <a:t>Filling the missing values across the datasets.</a:t>
            </a: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pPr marL="0" indent="0">
              <a:buNone/>
            </a:pPr>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Saving the cleaned Dataset.</a:t>
            </a:r>
          </a:p>
          <a:p>
            <a:endParaRPr lang="en-US" dirty="0"/>
          </a:p>
          <a:p>
            <a:endParaRPr lang="en-US" dirty="0"/>
          </a:p>
          <a:p>
            <a:endParaRPr lang="en-IN" dirty="0"/>
          </a:p>
        </p:txBody>
      </p:sp>
      <p:pic>
        <p:nvPicPr>
          <p:cNvPr id="5" name="Picture 4">
            <a:extLst>
              <a:ext uri="{FF2B5EF4-FFF2-40B4-BE49-F238E27FC236}">
                <a16:creationId xmlns:a16="http://schemas.microsoft.com/office/drawing/2014/main" id="{FCA324FD-8A29-4807-456E-8C0AC548C5E3}"/>
              </a:ext>
            </a:extLst>
          </p:cNvPr>
          <p:cNvPicPr>
            <a:picLocks noChangeAspect="1"/>
          </p:cNvPicPr>
          <p:nvPr/>
        </p:nvPicPr>
        <p:blipFill>
          <a:blip r:embed="rId2"/>
          <a:stretch>
            <a:fillRect/>
          </a:stretch>
        </p:blipFill>
        <p:spPr>
          <a:xfrm>
            <a:off x="1130498" y="2986656"/>
            <a:ext cx="5811061" cy="1095528"/>
          </a:xfrm>
          <a:prstGeom prst="rect">
            <a:avLst/>
          </a:prstGeom>
        </p:spPr>
      </p:pic>
      <p:pic>
        <p:nvPicPr>
          <p:cNvPr id="7" name="Picture 6">
            <a:extLst>
              <a:ext uri="{FF2B5EF4-FFF2-40B4-BE49-F238E27FC236}">
                <a16:creationId xmlns:a16="http://schemas.microsoft.com/office/drawing/2014/main" id="{25BFAD19-37D4-673C-E7DC-20700AB2EB77}"/>
              </a:ext>
            </a:extLst>
          </p:cNvPr>
          <p:cNvPicPr>
            <a:picLocks noChangeAspect="1"/>
          </p:cNvPicPr>
          <p:nvPr/>
        </p:nvPicPr>
        <p:blipFill>
          <a:blip r:embed="rId3"/>
          <a:stretch>
            <a:fillRect/>
          </a:stretch>
        </p:blipFill>
        <p:spPr>
          <a:xfrm>
            <a:off x="1130498" y="4858020"/>
            <a:ext cx="4848902" cy="1552792"/>
          </a:xfrm>
          <a:prstGeom prst="rect">
            <a:avLst/>
          </a:prstGeom>
        </p:spPr>
      </p:pic>
    </p:spTree>
    <p:extLst>
      <p:ext uri="{BB962C8B-B14F-4D97-AF65-F5344CB8AC3E}">
        <p14:creationId xmlns:p14="http://schemas.microsoft.com/office/powerpoint/2010/main" val="42395319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E45D13-6A11-3552-2693-013F0A631224}"/>
              </a:ext>
            </a:extLst>
          </p:cNvPr>
          <p:cNvSpPr>
            <a:spLocks noGrp="1"/>
          </p:cNvSpPr>
          <p:nvPr>
            <p:ph type="title"/>
          </p:nvPr>
        </p:nvSpPr>
        <p:spPr/>
        <p:txBody>
          <a:bodyPr/>
          <a:lstStyle/>
          <a:p>
            <a:r>
              <a:rPr lang="en-US" dirty="0"/>
              <a:t>Cleaned Excel file:</a:t>
            </a:r>
            <a:endParaRPr lang="en-IN" dirty="0"/>
          </a:p>
        </p:txBody>
      </p:sp>
      <p:pic>
        <p:nvPicPr>
          <p:cNvPr id="5" name="Content Placeholder 4">
            <a:extLst>
              <a:ext uri="{FF2B5EF4-FFF2-40B4-BE49-F238E27FC236}">
                <a16:creationId xmlns:a16="http://schemas.microsoft.com/office/drawing/2014/main" id="{4E994A28-FD61-48AD-5437-51611C664F12}"/>
              </a:ext>
            </a:extLst>
          </p:cNvPr>
          <p:cNvPicPr>
            <a:picLocks noGrp="1" noChangeAspect="1"/>
          </p:cNvPicPr>
          <p:nvPr>
            <p:ph idx="1"/>
          </p:nvPr>
        </p:nvPicPr>
        <p:blipFill>
          <a:blip r:embed="rId2"/>
          <a:stretch>
            <a:fillRect/>
          </a:stretch>
        </p:blipFill>
        <p:spPr>
          <a:xfrm>
            <a:off x="644421" y="2281493"/>
            <a:ext cx="8661403" cy="3636963"/>
          </a:xfrm>
          <a:prstGeom prst="rect">
            <a:avLst/>
          </a:prstGeom>
          <a:effectLst>
            <a:outerShdw blurRad="50800" dir="14400000">
              <a:srgbClr val="000000">
                <a:alpha val="40000"/>
              </a:srgbClr>
            </a:outerShdw>
          </a:effectLst>
        </p:spPr>
      </p:pic>
    </p:spTree>
    <p:extLst>
      <p:ext uri="{BB962C8B-B14F-4D97-AF65-F5344CB8AC3E}">
        <p14:creationId xmlns:p14="http://schemas.microsoft.com/office/powerpoint/2010/main" val="38232206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CB1059-8ED6-0168-B1EE-45C7C0BC6F17}"/>
              </a:ext>
            </a:extLst>
          </p:cNvPr>
          <p:cNvSpPr>
            <a:spLocks noGrp="1"/>
          </p:cNvSpPr>
          <p:nvPr>
            <p:ph type="title"/>
          </p:nvPr>
        </p:nvSpPr>
        <p:spPr/>
        <p:txBody>
          <a:bodyPr/>
          <a:lstStyle/>
          <a:p>
            <a:r>
              <a:rPr lang="en-US" dirty="0"/>
              <a:t>SQL Analysis</a:t>
            </a:r>
            <a:endParaRPr lang="en-IN" dirty="0"/>
          </a:p>
        </p:txBody>
      </p:sp>
      <p:sp>
        <p:nvSpPr>
          <p:cNvPr id="3" name="Content Placeholder 2">
            <a:extLst>
              <a:ext uri="{FF2B5EF4-FFF2-40B4-BE49-F238E27FC236}">
                <a16:creationId xmlns:a16="http://schemas.microsoft.com/office/drawing/2014/main" id="{6F8F14A3-EB76-D933-382C-65B20E7550C8}"/>
              </a:ext>
            </a:extLst>
          </p:cNvPr>
          <p:cNvSpPr>
            <a:spLocks noGrp="1"/>
          </p:cNvSpPr>
          <p:nvPr>
            <p:ph idx="1"/>
          </p:nvPr>
        </p:nvSpPr>
        <p:spPr>
          <a:xfrm>
            <a:off x="280555" y="3013364"/>
            <a:ext cx="11092731" cy="3304309"/>
          </a:xfrm>
        </p:spPr>
        <p:txBody>
          <a:bodyPr>
            <a:noAutofit/>
          </a:bodyPr>
          <a:lstStyle/>
          <a:p>
            <a:r>
              <a:rPr lang="en-US" dirty="0"/>
              <a:t>Table Design &amp; Relationships:</a:t>
            </a:r>
            <a:br>
              <a:rPr lang="en-US" dirty="0"/>
            </a:br>
            <a:r>
              <a:rPr lang="en-US" dirty="0"/>
              <a:t>Define table schema, set primary/foreign keys, and establish relationships between customers, products, sales, stores, and returns.</a:t>
            </a:r>
          </a:p>
          <a:p>
            <a:r>
              <a:rPr lang="en-US" dirty="0"/>
              <a:t>Data Validation:</a:t>
            </a:r>
            <a:br>
              <a:rPr lang="en-US" dirty="0"/>
            </a:br>
            <a:r>
              <a:rPr lang="en-US" dirty="0"/>
              <a:t>Check to ensure sales and returns reference valid customer/product/store IDs.</a:t>
            </a:r>
          </a:p>
          <a:p>
            <a:r>
              <a:rPr lang="en-US" dirty="0"/>
              <a:t>Import Cleaned Data:</a:t>
            </a:r>
            <a:br>
              <a:rPr lang="en-US" dirty="0"/>
            </a:br>
            <a:r>
              <a:rPr lang="en-US" dirty="0"/>
              <a:t>Load cleaned datasets (CSV) into MySQL database tables.</a:t>
            </a:r>
          </a:p>
          <a:p>
            <a:r>
              <a:rPr lang="en-US" dirty="0"/>
              <a:t>Answering the Business questions.</a:t>
            </a:r>
          </a:p>
          <a:p>
            <a:r>
              <a:rPr lang="en-US" dirty="0"/>
              <a:t>Import cleaned data into MySQL and perform advanced queries for business analysis and data aggregation using SQL.</a:t>
            </a:r>
          </a:p>
          <a:p>
            <a:endParaRPr lang="en-IN" sz="2400" dirty="0"/>
          </a:p>
        </p:txBody>
      </p:sp>
    </p:spTree>
    <p:extLst>
      <p:ext uri="{BB962C8B-B14F-4D97-AF65-F5344CB8AC3E}">
        <p14:creationId xmlns:p14="http://schemas.microsoft.com/office/powerpoint/2010/main" val="17127233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8568FFC-8E27-65F6-0BED-4048D1A155CA}"/>
              </a:ext>
            </a:extLst>
          </p:cNvPr>
          <p:cNvPicPr>
            <a:picLocks noChangeAspect="1"/>
          </p:cNvPicPr>
          <p:nvPr/>
        </p:nvPicPr>
        <p:blipFill>
          <a:blip r:embed="rId2"/>
          <a:stretch>
            <a:fillRect/>
          </a:stretch>
        </p:blipFill>
        <p:spPr>
          <a:xfrm>
            <a:off x="188175" y="1833811"/>
            <a:ext cx="3122531" cy="3431111"/>
          </a:xfrm>
          <a:prstGeom prst="rect">
            <a:avLst/>
          </a:prstGeom>
        </p:spPr>
      </p:pic>
      <p:pic>
        <p:nvPicPr>
          <p:cNvPr id="9" name="Picture 8">
            <a:extLst>
              <a:ext uri="{FF2B5EF4-FFF2-40B4-BE49-F238E27FC236}">
                <a16:creationId xmlns:a16="http://schemas.microsoft.com/office/drawing/2014/main" id="{88C6726E-A131-7FF3-9411-4CE5EEDB2FB4}"/>
              </a:ext>
            </a:extLst>
          </p:cNvPr>
          <p:cNvPicPr>
            <a:picLocks noChangeAspect="1"/>
          </p:cNvPicPr>
          <p:nvPr/>
        </p:nvPicPr>
        <p:blipFill>
          <a:blip r:embed="rId3"/>
          <a:stretch>
            <a:fillRect/>
          </a:stretch>
        </p:blipFill>
        <p:spPr>
          <a:xfrm>
            <a:off x="3665326" y="2799484"/>
            <a:ext cx="3423406" cy="2380713"/>
          </a:xfrm>
          <a:prstGeom prst="rect">
            <a:avLst/>
          </a:prstGeom>
        </p:spPr>
      </p:pic>
      <p:pic>
        <p:nvPicPr>
          <p:cNvPr id="17" name="Picture 16">
            <a:extLst>
              <a:ext uri="{FF2B5EF4-FFF2-40B4-BE49-F238E27FC236}">
                <a16:creationId xmlns:a16="http://schemas.microsoft.com/office/drawing/2014/main" id="{DFAA07A4-9D32-9D0F-A3BF-5F1E807AB257}"/>
              </a:ext>
            </a:extLst>
          </p:cNvPr>
          <p:cNvPicPr>
            <a:picLocks noChangeAspect="1"/>
          </p:cNvPicPr>
          <p:nvPr/>
        </p:nvPicPr>
        <p:blipFill>
          <a:blip r:embed="rId4"/>
          <a:stretch>
            <a:fillRect/>
          </a:stretch>
        </p:blipFill>
        <p:spPr>
          <a:xfrm>
            <a:off x="7367154" y="2799485"/>
            <a:ext cx="3900851" cy="2380713"/>
          </a:xfrm>
          <a:prstGeom prst="rect">
            <a:avLst/>
          </a:prstGeom>
        </p:spPr>
      </p:pic>
    </p:spTree>
    <p:extLst>
      <p:ext uri="{BB962C8B-B14F-4D97-AF65-F5344CB8AC3E}">
        <p14:creationId xmlns:p14="http://schemas.microsoft.com/office/powerpoint/2010/main" val="27836378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B9A5AC8-A23D-51AE-B5A9-32F6D0592252}"/>
              </a:ext>
            </a:extLst>
          </p:cNvPr>
          <p:cNvSpPr>
            <a:spLocks noGrp="1"/>
          </p:cNvSpPr>
          <p:nvPr>
            <p:ph type="title"/>
          </p:nvPr>
        </p:nvSpPr>
        <p:spPr/>
        <p:txBody>
          <a:bodyPr/>
          <a:lstStyle/>
          <a:p>
            <a:r>
              <a:rPr lang="en-IN" dirty="0"/>
              <a:t>Data Visualization:</a:t>
            </a:r>
          </a:p>
        </p:txBody>
      </p:sp>
      <p:sp>
        <p:nvSpPr>
          <p:cNvPr id="4" name="Content Placeholder 3">
            <a:extLst>
              <a:ext uri="{FF2B5EF4-FFF2-40B4-BE49-F238E27FC236}">
                <a16:creationId xmlns:a16="http://schemas.microsoft.com/office/drawing/2014/main" id="{52E87258-EDB0-E6D5-5087-AA3BE34AB649}"/>
              </a:ext>
            </a:extLst>
          </p:cNvPr>
          <p:cNvSpPr>
            <a:spLocks noGrp="1"/>
          </p:cNvSpPr>
          <p:nvPr>
            <p:ph idx="1"/>
          </p:nvPr>
        </p:nvSpPr>
        <p:spPr/>
        <p:txBody>
          <a:bodyPr/>
          <a:lstStyle/>
          <a:p>
            <a:pPr lvl="1"/>
            <a:r>
              <a:rPr lang="en-US" sz="1800" dirty="0"/>
              <a:t>Building interactive dashboards to display trends and uncover business insights.</a:t>
            </a:r>
          </a:p>
          <a:p>
            <a:pPr lvl="1"/>
            <a:r>
              <a:rPr lang="en-US" sz="1800" dirty="0"/>
              <a:t>Tools used: Power BI for dashboards; charts and plots created with Python (matplotlib, seaborn) as needed.</a:t>
            </a:r>
            <a:br>
              <a:rPr lang="en-US" sz="1800" dirty="0"/>
            </a:br>
            <a:endParaRPr lang="en-US" sz="1800" dirty="0"/>
          </a:p>
          <a:p>
            <a:pPr lvl="1"/>
            <a:endParaRPr lang="en-US" dirty="0"/>
          </a:p>
          <a:p>
            <a:pPr lvl="1"/>
            <a:endParaRPr lang="en-US" dirty="0"/>
          </a:p>
          <a:p>
            <a:pPr lvl="1"/>
            <a:endParaRPr lang="en-US" dirty="0"/>
          </a:p>
          <a:p>
            <a:pPr lvl="1"/>
            <a:endParaRPr lang="en-US" dirty="0"/>
          </a:p>
          <a:p>
            <a:pPr lvl="1"/>
            <a:endParaRPr lang="en-US" dirty="0"/>
          </a:p>
          <a:p>
            <a:pPr lvl="1"/>
            <a:endParaRPr lang="en-IN" dirty="0"/>
          </a:p>
        </p:txBody>
      </p:sp>
      <p:pic>
        <p:nvPicPr>
          <p:cNvPr id="6" name="Picture 5">
            <a:extLst>
              <a:ext uri="{FF2B5EF4-FFF2-40B4-BE49-F238E27FC236}">
                <a16:creationId xmlns:a16="http://schemas.microsoft.com/office/drawing/2014/main" id="{65A294B6-84AD-3AE1-C71E-259CAFDA5FF2}"/>
              </a:ext>
            </a:extLst>
          </p:cNvPr>
          <p:cNvPicPr>
            <a:picLocks noChangeAspect="1"/>
          </p:cNvPicPr>
          <p:nvPr/>
        </p:nvPicPr>
        <p:blipFill>
          <a:blip r:embed="rId2"/>
          <a:stretch>
            <a:fillRect/>
          </a:stretch>
        </p:blipFill>
        <p:spPr>
          <a:xfrm>
            <a:off x="2722419" y="3314700"/>
            <a:ext cx="6546272" cy="3429000"/>
          </a:xfrm>
          <a:prstGeom prst="rect">
            <a:avLst/>
          </a:prstGeom>
        </p:spPr>
      </p:pic>
    </p:spTree>
    <p:extLst>
      <p:ext uri="{BB962C8B-B14F-4D97-AF65-F5344CB8AC3E}">
        <p14:creationId xmlns:p14="http://schemas.microsoft.com/office/powerpoint/2010/main" val="20496701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9F2FF2B-AF73-47E4-159A-770598345C19}"/>
              </a:ext>
            </a:extLst>
          </p:cNvPr>
          <p:cNvPicPr>
            <a:picLocks noChangeAspect="1"/>
          </p:cNvPicPr>
          <p:nvPr/>
        </p:nvPicPr>
        <p:blipFill>
          <a:blip r:embed="rId2"/>
          <a:stretch>
            <a:fillRect/>
          </a:stretch>
        </p:blipFill>
        <p:spPr>
          <a:xfrm>
            <a:off x="1835727" y="1219546"/>
            <a:ext cx="8520545" cy="4418907"/>
          </a:xfrm>
          <a:prstGeom prst="rect">
            <a:avLst/>
          </a:prstGeom>
        </p:spPr>
      </p:pic>
    </p:spTree>
    <p:extLst>
      <p:ext uri="{BB962C8B-B14F-4D97-AF65-F5344CB8AC3E}">
        <p14:creationId xmlns:p14="http://schemas.microsoft.com/office/powerpoint/2010/main" val="30797108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EC325E9B-6207-5C76-BDEF-DCB3853ECEBE}"/>
              </a:ext>
            </a:extLst>
          </p:cNvPr>
          <p:cNvPicPr>
            <a:picLocks noGrp="1" noChangeAspect="1"/>
          </p:cNvPicPr>
          <p:nvPr>
            <p:ph idx="1"/>
          </p:nvPr>
        </p:nvPicPr>
        <p:blipFill>
          <a:blip r:embed="rId2"/>
          <a:stretch>
            <a:fillRect/>
          </a:stretch>
        </p:blipFill>
        <p:spPr>
          <a:xfrm>
            <a:off x="1778878" y="986108"/>
            <a:ext cx="8634243" cy="4885784"/>
          </a:xfrm>
          <a:prstGeom prst="rect">
            <a:avLst/>
          </a:prstGeom>
          <a:effectLst>
            <a:outerShdw blurRad="50800" dir="14400000">
              <a:srgbClr val="000000">
                <a:alpha val="40000"/>
              </a:srgbClr>
            </a:outerShdw>
          </a:effectLst>
        </p:spPr>
      </p:pic>
    </p:spTree>
    <p:extLst>
      <p:ext uri="{BB962C8B-B14F-4D97-AF65-F5344CB8AC3E}">
        <p14:creationId xmlns:p14="http://schemas.microsoft.com/office/powerpoint/2010/main" val="33835950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17137D9-449B-2C73-46D5-7D26379BA685}"/>
              </a:ext>
            </a:extLst>
          </p:cNvPr>
          <p:cNvPicPr>
            <a:picLocks noChangeAspect="1"/>
          </p:cNvPicPr>
          <p:nvPr/>
        </p:nvPicPr>
        <p:blipFill>
          <a:blip r:embed="rId2"/>
          <a:stretch>
            <a:fillRect/>
          </a:stretch>
        </p:blipFill>
        <p:spPr>
          <a:xfrm>
            <a:off x="1912793" y="934192"/>
            <a:ext cx="8366414" cy="4780808"/>
          </a:xfrm>
          <a:prstGeom prst="rect">
            <a:avLst/>
          </a:prstGeom>
        </p:spPr>
      </p:pic>
    </p:spTree>
    <p:extLst>
      <p:ext uri="{BB962C8B-B14F-4D97-AF65-F5344CB8AC3E}">
        <p14:creationId xmlns:p14="http://schemas.microsoft.com/office/powerpoint/2010/main" val="9180575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AF86E9-037B-FE5E-8ED8-4BB857B2AC58}"/>
              </a:ext>
            </a:extLst>
          </p:cNvPr>
          <p:cNvSpPr>
            <a:spLocks noGrp="1"/>
          </p:cNvSpPr>
          <p:nvPr>
            <p:ph type="title"/>
          </p:nvPr>
        </p:nvSpPr>
        <p:spPr/>
        <p:txBody>
          <a:bodyPr/>
          <a:lstStyle/>
          <a:p>
            <a:r>
              <a:rPr lang="en-CA" dirty="0">
                <a:latin typeface="Arial" panose="020B0604020202020204" pitchFamily="34" charset="0"/>
                <a:cs typeface="Arial" panose="020B0604020202020204" pitchFamily="34" charset="0"/>
              </a:rPr>
              <a:t>Challenges:</a:t>
            </a:r>
            <a:endParaRPr lang="en-IN" dirty="0"/>
          </a:p>
        </p:txBody>
      </p:sp>
      <p:sp>
        <p:nvSpPr>
          <p:cNvPr id="3" name="Content Placeholder 2">
            <a:extLst>
              <a:ext uri="{FF2B5EF4-FFF2-40B4-BE49-F238E27FC236}">
                <a16:creationId xmlns:a16="http://schemas.microsoft.com/office/drawing/2014/main" id="{D1BC1713-0790-9B76-8649-51006E11908D}"/>
              </a:ext>
            </a:extLst>
          </p:cNvPr>
          <p:cNvSpPr>
            <a:spLocks noGrp="1"/>
          </p:cNvSpPr>
          <p:nvPr>
            <p:ph idx="1"/>
          </p:nvPr>
        </p:nvSpPr>
        <p:spPr>
          <a:xfrm>
            <a:off x="818712" y="2222287"/>
            <a:ext cx="10554574" cy="4188525"/>
          </a:xfrm>
        </p:spPr>
        <p:txBody>
          <a:bodyPr>
            <a:normAutofit fontScale="92500" lnSpcReduction="20000"/>
          </a:bodyPr>
          <a:lstStyle/>
          <a:p>
            <a:r>
              <a:rPr lang="en-US" sz="1900" dirty="0"/>
              <a:t>Data Quality Issues</a:t>
            </a:r>
          </a:p>
          <a:p>
            <a:pPr lvl="1"/>
            <a:r>
              <a:rPr lang="en-US" sz="1900" dirty="0"/>
              <a:t>Encountered missing, duplicate, and inconsistent customer/store/product information across multiple files.</a:t>
            </a:r>
          </a:p>
          <a:p>
            <a:pPr lvl="1"/>
            <a:r>
              <a:rPr lang="en-US" sz="1900" dirty="0"/>
              <a:t>Required significant cleaning and validation to ensure data integrity.</a:t>
            </a:r>
          </a:p>
          <a:p>
            <a:r>
              <a:rPr lang="en-US" sz="1900" dirty="0"/>
              <a:t>Data Integration</a:t>
            </a:r>
          </a:p>
          <a:p>
            <a:pPr lvl="1"/>
            <a:r>
              <a:rPr lang="en-US" sz="1900" dirty="0"/>
              <a:t>Merging datasets from various sources (sales, returns, customers, stores, products) was complex due to mismatched IDs and inconsistent schema.</a:t>
            </a:r>
          </a:p>
          <a:p>
            <a:r>
              <a:rPr lang="en-US" sz="1900" dirty="0"/>
              <a:t>Handling Missing Values</a:t>
            </a:r>
          </a:p>
          <a:p>
            <a:pPr lvl="1"/>
            <a:r>
              <a:rPr lang="en-US" sz="1900" dirty="0"/>
              <a:t>Had to decide on suitable imputation strategies (e.g., using mean, median, or ‘unknown’ for filling gaps) without distorting business meaning.</a:t>
            </a:r>
          </a:p>
          <a:p>
            <a:r>
              <a:rPr lang="en-US" sz="1900" dirty="0"/>
              <a:t>Date and Time Formatting</a:t>
            </a:r>
          </a:p>
          <a:p>
            <a:pPr lvl="1"/>
            <a:r>
              <a:rPr lang="en-US" sz="1900" dirty="0"/>
              <a:t>Standardizing different date formats, handling null dates, and ensuring correct types for time-based analysis.</a:t>
            </a:r>
          </a:p>
          <a:p>
            <a:pPr marL="0" indent="0">
              <a:buNone/>
            </a:pPr>
            <a:endParaRPr lang="en-IN" dirty="0"/>
          </a:p>
        </p:txBody>
      </p:sp>
    </p:spTree>
    <p:extLst>
      <p:ext uri="{BB962C8B-B14F-4D97-AF65-F5344CB8AC3E}">
        <p14:creationId xmlns:p14="http://schemas.microsoft.com/office/powerpoint/2010/main" val="35905999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10F260-75A4-096D-983D-9FD23E38344C}"/>
              </a:ext>
            </a:extLst>
          </p:cNvPr>
          <p:cNvSpPr>
            <a:spLocks noGrp="1"/>
          </p:cNvSpPr>
          <p:nvPr>
            <p:ph type="title"/>
          </p:nvPr>
        </p:nvSpPr>
        <p:spPr/>
        <p:txBody>
          <a:bodyPr/>
          <a:lstStyle/>
          <a:p>
            <a:r>
              <a:rPr lang="en-CA" dirty="0">
                <a:latin typeface="Arial" panose="020B0604020202020204" pitchFamily="34" charset="0"/>
                <a:cs typeface="Arial" panose="020B0604020202020204" pitchFamily="34" charset="0"/>
              </a:rPr>
              <a:t>Conclusion</a:t>
            </a:r>
            <a:r>
              <a:rPr lang="en-IN" dirty="0">
                <a:latin typeface="Arial" panose="020B0604020202020204" pitchFamily="34" charset="0"/>
                <a:cs typeface="Arial" panose="020B0604020202020204" pitchFamily="34" charset="0"/>
              </a:rPr>
              <a:t>:</a:t>
            </a:r>
            <a:endParaRPr lang="en-IN" dirty="0"/>
          </a:p>
        </p:txBody>
      </p:sp>
      <p:sp>
        <p:nvSpPr>
          <p:cNvPr id="3" name="Content Placeholder 2">
            <a:extLst>
              <a:ext uri="{FF2B5EF4-FFF2-40B4-BE49-F238E27FC236}">
                <a16:creationId xmlns:a16="http://schemas.microsoft.com/office/drawing/2014/main" id="{09C20B0A-2B7D-7C44-F7A5-D7012FF6251E}"/>
              </a:ext>
            </a:extLst>
          </p:cNvPr>
          <p:cNvSpPr>
            <a:spLocks noGrp="1"/>
          </p:cNvSpPr>
          <p:nvPr>
            <p:ph idx="1"/>
          </p:nvPr>
        </p:nvSpPr>
        <p:spPr>
          <a:xfrm>
            <a:off x="818712" y="2222287"/>
            <a:ext cx="10554574" cy="4739622"/>
          </a:xfrm>
        </p:spPr>
        <p:txBody>
          <a:bodyPr/>
          <a:lstStyle/>
          <a:p>
            <a:r>
              <a:rPr lang="en-US" dirty="0">
                <a:latin typeface="Arial" panose="020B0604020202020204" pitchFamily="34" charset="0"/>
                <a:cs typeface="Arial" panose="020B0604020202020204" pitchFamily="34" charset="0"/>
              </a:rPr>
              <a:t>This project successfully demonstrated the end-to-end process of cleaning, integrating, and analyzing retail business data using Python and advanced dashboard tools. Despite encountering challenges in data quality, integration, and visualization, key business metrics were extracted and visualized to deliver actionable insights</a:t>
            </a:r>
          </a:p>
          <a:p>
            <a:r>
              <a:rPr lang="en-US" dirty="0">
                <a:latin typeface="Arial" panose="020B0604020202020204" pitchFamily="34" charset="0"/>
                <a:cs typeface="Arial" panose="020B0604020202020204" pitchFamily="34" charset="0"/>
              </a:rPr>
              <a:t>Overall, the project improved data reliability and provided a foundation for ongoing business analytics and strategic growth.</a:t>
            </a:r>
          </a:p>
          <a:p>
            <a:endParaRPr lang="en-US" dirty="0"/>
          </a:p>
          <a:p>
            <a:endParaRPr lang="en-US" dirty="0"/>
          </a:p>
          <a:p>
            <a:endParaRPr lang="en-US" dirty="0"/>
          </a:p>
          <a:p>
            <a:endParaRPr lang="en-IN" dirty="0"/>
          </a:p>
        </p:txBody>
      </p:sp>
    </p:spTree>
    <p:extLst>
      <p:ext uri="{BB962C8B-B14F-4D97-AF65-F5344CB8AC3E}">
        <p14:creationId xmlns:p14="http://schemas.microsoft.com/office/powerpoint/2010/main" val="8358144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A8BF50A-3E38-3BA4-420B-A8409D219A79}"/>
              </a:ext>
            </a:extLst>
          </p:cNvPr>
          <p:cNvSpPr>
            <a:spLocks noGrp="1"/>
          </p:cNvSpPr>
          <p:nvPr>
            <p:ph type="ctrTitle"/>
          </p:nvPr>
        </p:nvSpPr>
        <p:spPr>
          <a:xfrm>
            <a:off x="2930235" y="1449148"/>
            <a:ext cx="8451765" cy="1844770"/>
          </a:xfrm>
        </p:spPr>
        <p:txBody>
          <a:bodyPr/>
          <a:lstStyle/>
          <a:p>
            <a:r>
              <a:rPr lang="en-IN" sz="9600" dirty="0"/>
              <a:t>Thank You</a:t>
            </a:r>
          </a:p>
        </p:txBody>
      </p:sp>
    </p:spTree>
    <p:extLst>
      <p:ext uri="{BB962C8B-B14F-4D97-AF65-F5344CB8AC3E}">
        <p14:creationId xmlns:p14="http://schemas.microsoft.com/office/powerpoint/2010/main" val="360833870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Quotable">
  <a:themeElements>
    <a:clrScheme name="Quotable">
      <a:dk1>
        <a:sysClr val="windowText" lastClr="000000"/>
      </a:dk1>
      <a:lt1>
        <a:sysClr val="window" lastClr="FFFFFF"/>
      </a:lt1>
      <a:dk2>
        <a:srgbClr val="212121"/>
      </a:dk2>
      <a:lt2>
        <a:srgbClr val="636363"/>
      </a:lt2>
      <a:accent1>
        <a:srgbClr val="00C6BB"/>
      </a:accent1>
      <a:accent2>
        <a:srgbClr val="6FEBA0"/>
      </a:accent2>
      <a:accent3>
        <a:srgbClr val="B6DF5E"/>
      </a:accent3>
      <a:accent4>
        <a:srgbClr val="EFB251"/>
      </a:accent4>
      <a:accent5>
        <a:srgbClr val="EF755F"/>
      </a:accent5>
      <a:accent6>
        <a:srgbClr val="ED515C"/>
      </a:accent6>
      <a:hlink>
        <a:srgbClr val="8F8F8F"/>
      </a:hlink>
      <a:folHlink>
        <a:srgbClr val="A5A5A5"/>
      </a:folHlink>
    </a:clrScheme>
    <a:fontScheme name="Quotable">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Quotable">
      <a:fillStyleLst>
        <a:solidFill>
          <a:schemeClr val="phClr"/>
        </a:solidFill>
        <a:gradFill rotWithShape="1">
          <a:gsLst>
            <a:gs pos="0">
              <a:schemeClr val="phClr">
                <a:tint val="80000"/>
                <a:lumMod val="105000"/>
              </a:schemeClr>
            </a:gs>
            <a:gs pos="100000">
              <a:schemeClr val="phClr">
                <a:tint val="90000"/>
              </a:schemeClr>
            </a:gs>
          </a:gsLst>
          <a:lin ang="5400000" scaled="0"/>
        </a:gradFill>
        <a:blipFill rotWithShape="1">
          <a:blip xmlns:r="http://schemas.openxmlformats.org/officeDocument/2006/relationships" r:embed="rId1">
            <a:duotone>
              <a:schemeClr val="phClr">
                <a:tint val="98000"/>
                <a:lumMod val="102000"/>
              </a:schemeClr>
              <a:schemeClr val="phClr">
                <a:shade val="98000"/>
                <a:lumMod val="98000"/>
              </a:schemeClr>
            </a:duotone>
          </a:blip>
          <a:tile tx="0" ty="0" sx="100000" sy="100000" flip="none" algn="tl"/>
        </a:blipFill>
      </a:fillStyleLst>
      <a:lnStyleLst>
        <a:ln w="9525" cap="rnd" cmpd="sng" algn="ctr">
          <a:solidFill>
            <a:schemeClr val="ph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effectStyle>
        <a:effectStyle>
          <a:effectLst>
            <a:innerShdw blurRad="63500" dist="25400" dir="13500000">
              <a:srgbClr val="000000">
                <a:alpha val="75000"/>
              </a:srgbClr>
            </a:innerShdw>
          </a:effectLst>
        </a:effectStyle>
      </a:effectStyleLst>
      <a:bgFillStyleLst>
        <a:solidFill>
          <a:schemeClr val="phClr"/>
        </a:solidFill>
        <a:gradFill rotWithShape="1">
          <a:gsLst>
            <a:gs pos="0">
              <a:schemeClr val="phClr">
                <a:tint val="100000"/>
              </a:schemeClr>
            </a:gs>
            <a:gs pos="100000">
              <a:schemeClr val="phClr">
                <a:tint val="84000"/>
                <a:shade val="84000"/>
                <a:lumMod val="90000"/>
              </a:schemeClr>
            </a:gs>
          </a:gsLst>
          <a:lin ang="5400000" scaled="0"/>
        </a:gradFill>
        <a:gradFill rotWithShape="1">
          <a:gsLst>
            <a:gs pos="0">
              <a:schemeClr val="phClr">
                <a:tint val="84000"/>
                <a:shade val="90000"/>
                <a:satMod val="120000"/>
                <a:lumMod val="90000"/>
              </a:schemeClr>
            </a:gs>
            <a:gs pos="100000">
              <a:schemeClr val="phClr"/>
            </a:gs>
          </a:gsLst>
          <a:lin ang="5400000" scaled="0"/>
        </a:gradFill>
      </a:bgFillStyleLst>
    </a:fmtScheme>
  </a:themeElements>
  <a:objectDefaults/>
  <a:extraClrSchemeLst/>
  <a:extLst>
    <a:ext uri="{05A4C25C-085E-4340-85A3-A5531E510DB2}">
      <thm15:themeFamily xmlns:thm15="http://schemas.microsoft.com/office/thememl/2012/main" name="Quotable" id="{39EC5628-30ED-4578-ACD8-9820EDB8E15A}" vid="{6F3559E9-1A4C-49D8-94D4-F41003531C4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{35DA32C0-F5D8-4A31-BC49-4CCE65CCB8F3}tf03457503</Template>
  <TotalTime>322</TotalTime>
  <Words>516</Words>
  <Application>Microsoft Office PowerPoint</Application>
  <PresentationFormat>Widescreen</PresentationFormat>
  <Paragraphs>74</Paragraphs>
  <Slides>16</Slides>
  <Notes>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Calibri</vt:lpstr>
      <vt:lpstr>Century Gothic</vt:lpstr>
      <vt:lpstr>Wingdings</vt:lpstr>
      <vt:lpstr>Wingdings 2</vt:lpstr>
      <vt:lpstr>Quotable</vt:lpstr>
      <vt:lpstr>End-to-End Retail Performance and Behavioral Analytics </vt:lpstr>
      <vt:lpstr>Agenda</vt:lpstr>
      <vt:lpstr>Introduction</vt:lpstr>
      <vt:lpstr>Methodology Data Reading:</vt:lpstr>
      <vt:lpstr>Data Cleaning:</vt:lpstr>
      <vt:lpstr>PowerPoint Presentation</vt:lpstr>
      <vt:lpstr>Cleaned Excel file:</vt:lpstr>
      <vt:lpstr>SQL Analysis</vt:lpstr>
      <vt:lpstr>PowerPoint Presentation</vt:lpstr>
      <vt:lpstr>Data Visualization:</vt:lpstr>
      <vt:lpstr>PowerPoint Presentation</vt:lpstr>
      <vt:lpstr>PowerPoint Presentation</vt:lpstr>
      <vt:lpstr>PowerPoint Presentation</vt:lpstr>
      <vt:lpstr>Challenges:</vt:lpstr>
      <vt:lpstr>Conclusion: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Abhinav Davu</dc:creator>
  <cp:lastModifiedBy>Abhinav Davu</cp:lastModifiedBy>
  <cp:revision>5</cp:revision>
  <dcterms:created xsi:type="dcterms:W3CDTF">2025-10-29T14:09:16Z</dcterms:created>
  <dcterms:modified xsi:type="dcterms:W3CDTF">2025-10-30T05:06:43Z</dcterms:modified>
</cp:coreProperties>
</file>